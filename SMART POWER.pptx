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77" r:id="rId8"/>
    <p:sldId id="262" r:id="rId9"/>
    <p:sldId id="278" r:id="rId10"/>
    <p:sldId id="279" r:id="rId11"/>
    <p:sldId id="280" r:id="rId12"/>
    <p:sldId id="281" r:id="rId13"/>
    <p:sldId id="282" r:id="rId14"/>
    <p:sldId id="283" r:id="rId15"/>
    <p:sldId id="265" r:id="rId16"/>
    <p:sldId id="284" r:id="rId17"/>
    <p:sldId id="285" r:id="rId18"/>
    <p:sldId id="269" r:id="rId19"/>
    <p:sldId id="270" r:id="rId20"/>
    <p:sldId id="286" r:id="rId21"/>
    <p:sldId id="287" r:id="rId22"/>
    <p:sldId id="288" r:id="rId23"/>
    <p:sldId id="289" r:id="rId24"/>
    <p:sldId id="290" r:id="rId25"/>
    <p:sldId id="272" r:id="rId26"/>
    <p:sldId id="273" r:id="rId27"/>
    <p:sldId id="274" r:id="rId28"/>
    <p:sldId id="291" r:id="rId29"/>
  </p:sldIdLst>
  <p:sldSz cx="18288000" cy="10287000"/>
  <p:notesSz cx="6858000" cy="9144000"/>
  <p:embeddedFontLst>
    <p:embeddedFont>
      <p:font typeface="Algerian" panose="04020705040A02060702" pitchFamily="82" charset="0"/>
      <p:regular r:id="rId31"/>
    </p:embeddedFont>
    <p:embeddedFont>
      <p:font typeface="Calibri (MS)" panose="020B0604020202020204" charset="0"/>
      <p:regular r:id="rId32"/>
    </p:embeddedFont>
    <p:embeddedFont>
      <p:font typeface="Times New Roman Bold" panose="02020803070505020304" pitchFamily="18" charset="0"/>
      <p:regular r:id="rId33"/>
      <p:bold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9673" autoAdjust="0"/>
  </p:normalViewPr>
  <p:slideViewPr>
    <p:cSldViewPr>
      <p:cViewPr varScale="1">
        <p:scale>
          <a:sx n="41" d="100"/>
          <a:sy n="41" d="100"/>
        </p:scale>
        <p:origin x="105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3141A-4987-75D8-0769-C142D7BDCE8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D43F67-3F71-D991-A467-DD7FC892EA6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D5A7EF8-96DD-ADBE-19E5-860EF1C03EC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49BA801-4EE1-5BF1-2124-410E09FFCF2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43B29B1-BF89-6F94-8AD5-038A51BF272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a:extLst>
              <a:ext uri="{FF2B5EF4-FFF2-40B4-BE49-F238E27FC236}">
                <a16:creationId xmlns:a16="http://schemas.microsoft.com/office/drawing/2014/main" id="{06D4FDBC-CF71-9946-12B4-3CF01590D04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434F92B-B631-9DE6-C4D5-859EE67E655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63498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22EB2-6A55-14E6-AD29-5D744D078F3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B9152F-7A1C-F336-03FE-CEC9FEFD24A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2C94651-670A-20F1-B5DD-2D296B76EB2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6B6F176-0A29-1E7E-082E-5ACF1FB39F0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CA6BFBA-50BF-5881-2E3D-70E63A7287A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a:extLst>
              <a:ext uri="{FF2B5EF4-FFF2-40B4-BE49-F238E27FC236}">
                <a16:creationId xmlns:a16="http://schemas.microsoft.com/office/drawing/2014/main" id="{2E2F9D22-6F91-4001-55E9-66D4CDAB49D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717956B-B383-FB1D-62E4-6877C8F163D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26281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B6541-5ADC-C525-842A-4BAB6C9C2F5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8BDBA6-3A8A-7F4E-A23F-A4572B488BF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32C2F2D-9730-7765-2FCF-B2874FC1F95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C701A42-FBED-CCF2-4E54-58ED5B3049A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447683E-82BB-9335-CB46-1B892D2796F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a:extLst>
              <a:ext uri="{FF2B5EF4-FFF2-40B4-BE49-F238E27FC236}">
                <a16:creationId xmlns:a16="http://schemas.microsoft.com/office/drawing/2014/main" id="{0D761541-A6B3-7638-0B22-6CFCB542EA3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99B4482-5A7B-5C19-1382-0387B8FF57F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30165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CF3C0-AAE6-B99E-999D-D1653CEF510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A3235C-49C4-5E09-8B68-E6F8FDD66AF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240B39C-6D12-E982-5918-CE1C882A026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E79175E-1795-7E67-1FE1-23E104FB9F3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1151D90-3D78-DEEF-DFE0-06D1384DFB4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a:extLst>
              <a:ext uri="{FF2B5EF4-FFF2-40B4-BE49-F238E27FC236}">
                <a16:creationId xmlns:a16="http://schemas.microsoft.com/office/drawing/2014/main" id="{2C9BD66E-299C-25C6-0BBE-C9629BA05D4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3F23E9A-B64F-C74F-2326-00CF0DE79F2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39258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913AD-9E76-ECE6-7537-E2FD04F50F5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914052-D861-D23C-23D0-F7F694B6F7E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28430CA-73B6-2975-0BC9-4CA59B786A3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5A22CEE-90B8-318B-BB25-E3B089CFD9B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C7ED888-34DF-70BD-F29E-12F149E2879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a:extLst>
              <a:ext uri="{FF2B5EF4-FFF2-40B4-BE49-F238E27FC236}">
                <a16:creationId xmlns:a16="http://schemas.microsoft.com/office/drawing/2014/main" id="{8D585446-DCB4-C7D0-AA29-0D911758E09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823CD41-1E14-C39C-93E4-B588D2AF0C8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50971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40654" y="4511821"/>
            <a:ext cx="6265546" cy="2953116"/>
          </a:xfrm>
          <a:prstGeom prst="rect">
            <a:avLst/>
          </a:prstGeom>
        </p:spPr>
        <p:txBody>
          <a:bodyPr wrap="square" lIns="0" tIns="0" rIns="0" bIns="0" rtlCol="0" anchor="t">
            <a:spAutoFit/>
          </a:bodyPr>
          <a:lstStyle/>
          <a:p>
            <a:pPr algn="l">
              <a:lnSpc>
                <a:spcPts val="4650"/>
              </a:lnSpc>
            </a:pPr>
            <a:r>
              <a:rPr lang="en-US" sz="3000" b="1" dirty="0">
                <a:solidFill>
                  <a:srgbClr val="C00000"/>
                </a:solidFill>
                <a:latin typeface="Times New Roman Bold"/>
                <a:ea typeface="Times New Roman Bold"/>
                <a:cs typeface="Times New Roman Bold"/>
                <a:sym typeface="Times New Roman Bold"/>
              </a:rPr>
              <a:t>Presented by ,</a:t>
            </a:r>
          </a:p>
          <a:p>
            <a:pPr algn="l">
              <a:lnSpc>
                <a:spcPts val="4650"/>
              </a:lnSpc>
            </a:pPr>
            <a:r>
              <a:rPr lang="en-US" sz="3000" b="1" dirty="0">
                <a:latin typeface="Times New Roman Bold"/>
                <a:ea typeface="Times New Roman Bold"/>
                <a:cs typeface="Times New Roman Bold"/>
                <a:sym typeface="Times New Roman Bold"/>
              </a:rPr>
              <a:t>Name		: GUGANRAJ R</a:t>
            </a:r>
          </a:p>
          <a:p>
            <a:pPr algn="l">
              <a:lnSpc>
                <a:spcPts val="4650"/>
              </a:lnSpc>
            </a:pPr>
            <a:r>
              <a:rPr lang="en-US" sz="3000" b="1" dirty="0">
                <a:latin typeface="Times New Roman Bold"/>
                <a:ea typeface="Times New Roman Bold"/>
                <a:cs typeface="Times New Roman Bold"/>
                <a:sym typeface="Times New Roman Bold"/>
              </a:rPr>
              <a:t>Register No	: 8115U25CS050</a:t>
            </a:r>
          </a:p>
          <a:p>
            <a:pPr algn="l">
              <a:lnSpc>
                <a:spcPts val="4650"/>
              </a:lnSpc>
            </a:pPr>
            <a:r>
              <a:rPr lang="en-US" sz="3000" b="1" dirty="0">
                <a:latin typeface="Times New Roman Bold"/>
                <a:ea typeface="Times New Roman Bold"/>
                <a:cs typeface="Times New Roman Bold"/>
                <a:sym typeface="Times New Roman Bold"/>
              </a:rPr>
              <a:t>Roll No		: E2518</a:t>
            </a:r>
          </a:p>
          <a:p>
            <a:pPr algn="l">
              <a:lnSpc>
                <a:spcPts val="4650"/>
              </a:lnSpc>
            </a:pPr>
            <a:r>
              <a:rPr lang="en-US" sz="3000" b="1" dirty="0">
                <a:latin typeface="Times New Roman Bold"/>
                <a:ea typeface="Times New Roman Bold"/>
                <a:cs typeface="Times New Roman Bold"/>
                <a:sym typeface="Times New Roman Bold"/>
              </a:rPr>
              <a:t>Year &amp; Section	: I-E</a:t>
            </a:r>
          </a:p>
        </p:txBody>
      </p:sp>
      <p:grpSp>
        <p:nvGrpSpPr>
          <p:cNvPr id="5" name="Group 5"/>
          <p:cNvGrpSpPr/>
          <p:nvPr/>
        </p:nvGrpSpPr>
        <p:grpSpPr>
          <a:xfrm>
            <a:off x="566185" y="550602"/>
            <a:ext cx="1945462" cy="1920307"/>
            <a:chOff x="0" y="0"/>
            <a:chExt cx="2593950" cy="2560409"/>
          </a:xfrm>
        </p:grpSpPr>
        <p:sp>
          <p:nvSpPr>
            <p:cNvPr id="6" name="Freeform 6"/>
            <p:cNvSpPr/>
            <p:nvPr/>
          </p:nvSpPr>
          <p:spPr>
            <a:xfrm>
              <a:off x="0" y="0"/>
              <a:ext cx="2593975" cy="2560447"/>
            </a:xfrm>
            <a:custGeom>
              <a:avLst/>
              <a:gdLst/>
              <a:ahLst/>
              <a:cxnLst/>
              <a:rect l="l" t="t" r="r" b="b"/>
              <a:pathLst>
                <a:path w="2593975" h="2560447">
                  <a:moveTo>
                    <a:pt x="0" y="0"/>
                  </a:moveTo>
                  <a:lnTo>
                    <a:pt x="2593975" y="0"/>
                  </a:lnTo>
                  <a:lnTo>
                    <a:pt x="2593975" y="2560447"/>
                  </a:lnTo>
                  <a:lnTo>
                    <a:pt x="0" y="2560447"/>
                  </a:lnTo>
                  <a:lnTo>
                    <a:pt x="0" y="0"/>
                  </a:lnTo>
                  <a:close/>
                </a:path>
              </a:pathLst>
            </a:custGeom>
            <a:blipFill>
              <a:blip r:embed="rId2"/>
              <a:stretch>
                <a:fillRect t="-56" b="-55"/>
              </a:stretch>
            </a:blipFill>
          </p:spPr>
        </p:sp>
      </p:grpSp>
      <p:sp>
        <p:nvSpPr>
          <p:cNvPr id="7" name="TextBox 7"/>
          <p:cNvSpPr txBox="1"/>
          <p:nvPr/>
        </p:nvSpPr>
        <p:spPr>
          <a:xfrm>
            <a:off x="2551748" y="904751"/>
            <a:ext cx="12653962" cy="1066800"/>
          </a:xfrm>
          <a:prstGeom prst="rect">
            <a:avLst/>
          </a:prstGeom>
        </p:spPr>
        <p:txBody>
          <a:bodyPr lIns="0" tIns="0" rIns="0" bIns="0" rtlCol="0" anchor="t">
            <a:spAutoFit/>
          </a:bodyPr>
          <a:lstStyle/>
          <a:p>
            <a:pPr algn="ctr">
              <a:lnSpc>
                <a:spcPts val="5040"/>
              </a:lnSpc>
            </a:pPr>
            <a:r>
              <a:rPr lang="en-US" sz="4200" b="1" spc="-15">
                <a:solidFill>
                  <a:srgbClr val="001F5F"/>
                </a:solidFill>
                <a:latin typeface="Times New Roman Bold"/>
                <a:ea typeface="Times New Roman Bold"/>
                <a:cs typeface="Times New Roman Bold"/>
                <a:sym typeface="Times New Roman Bold"/>
              </a:rPr>
              <a:t>K.RAMAKRISHNAN COLLEGE OF ENGINEERING</a:t>
            </a:r>
          </a:p>
          <a:p>
            <a:pPr algn="ctr">
              <a:lnSpc>
                <a:spcPts val="3240"/>
              </a:lnSpc>
            </a:pPr>
            <a:r>
              <a:rPr lang="en-US" sz="2700" b="1" spc="-15">
                <a:solidFill>
                  <a:srgbClr val="FF0066"/>
                </a:solidFill>
                <a:latin typeface="Times New Roman Bold"/>
                <a:ea typeface="Times New Roman Bold"/>
                <a:cs typeface="Times New Roman Bold"/>
                <a:sym typeface="Times New Roman Bold"/>
              </a:rPr>
              <a:t>(AUTONOMOUS)</a:t>
            </a:r>
          </a:p>
        </p:txBody>
      </p:sp>
      <p:sp>
        <p:nvSpPr>
          <p:cNvPr id="8" name="TextBox 8"/>
          <p:cNvSpPr txBox="1"/>
          <p:nvPr/>
        </p:nvSpPr>
        <p:spPr>
          <a:xfrm>
            <a:off x="2350951" y="2842620"/>
            <a:ext cx="13746480" cy="580928"/>
          </a:xfrm>
          <a:prstGeom prst="rect">
            <a:avLst/>
          </a:prstGeom>
        </p:spPr>
        <p:txBody>
          <a:bodyPr wrap="square" lIns="0" tIns="0" rIns="0" bIns="0" rtlCol="0" anchor="t">
            <a:spAutoFit/>
          </a:bodyPr>
          <a:lstStyle/>
          <a:p>
            <a:pPr algn="ctr">
              <a:lnSpc>
                <a:spcPts val="4762"/>
              </a:lnSpc>
            </a:pPr>
            <a:r>
              <a:rPr lang="en-US" sz="3968" b="1" spc="-22" dirty="0">
                <a:solidFill>
                  <a:srgbClr val="FF0066"/>
                </a:solidFill>
                <a:latin typeface="Times New Roman Bold"/>
                <a:ea typeface="Times New Roman Bold"/>
                <a:cs typeface="Times New Roman Bold"/>
                <a:sym typeface="Times New Roman Bold"/>
              </a:rPr>
              <a:t>SMART POWER DISTRIBUTION MANAGEMENT SYSTEM </a:t>
            </a:r>
          </a:p>
        </p:txBody>
      </p:sp>
      <p:grpSp>
        <p:nvGrpSpPr>
          <p:cNvPr id="9" name="Group 9"/>
          <p:cNvGrpSpPr/>
          <p:nvPr/>
        </p:nvGrpSpPr>
        <p:grpSpPr>
          <a:xfrm>
            <a:off x="15118080" y="346139"/>
            <a:ext cx="2716911" cy="1964246"/>
            <a:chOff x="0" y="0"/>
            <a:chExt cx="3622548" cy="2618994"/>
          </a:xfrm>
        </p:grpSpPr>
        <p:sp>
          <p:nvSpPr>
            <p:cNvPr id="10" name="Freeform 10"/>
            <p:cNvSpPr/>
            <p:nvPr/>
          </p:nvSpPr>
          <p:spPr>
            <a:xfrm>
              <a:off x="0" y="0"/>
              <a:ext cx="3622548" cy="2618994"/>
            </a:xfrm>
            <a:custGeom>
              <a:avLst/>
              <a:gdLst/>
              <a:ahLst/>
              <a:cxnLst/>
              <a:rect l="l" t="t" r="r" b="b"/>
              <a:pathLst>
                <a:path w="3622548" h="2618994">
                  <a:moveTo>
                    <a:pt x="0" y="0"/>
                  </a:moveTo>
                  <a:lnTo>
                    <a:pt x="3622548" y="0"/>
                  </a:lnTo>
                  <a:lnTo>
                    <a:pt x="3622548" y="2618994"/>
                  </a:lnTo>
                  <a:lnTo>
                    <a:pt x="0" y="2618994"/>
                  </a:lnTo>
                  <a:lnTo>
                    <a:pt x="0" y="0"/>
                  </a:lnTo>
                  <a:close/>
                </a:path>
              </a:pathLst>
            </a:custGeom>
            <a:blipFill>
              <a:blip r:embed="rId3"/>
              <a:stretch>
                <a:fillRect t="-1" b="-1"/>
              </a:stretch>
            </a:blipFill>
          </p:spPr>
        </p:sp>
      </p:grpSp>
      <p:sp>
        <p:nvSpPr>
          <p:cNvPr id="11" name="TextBox 11"/>
          <p:cNvSpPr txBox="1"/>
          <p:nvPr/>
        </p:nvSpPr>
        <p:spPr>
          <a:xfrm>
            <a:off x="783805" y="9425159"/>
            <a:ext cx="4429811" cy="410369"/>
          </a:xfrm>
          <a:prstGeom prst="rect">
            <a:avLst/>
          </a:prstGeom>
        </p:spPr>
        <p:txBody>
          <a:bodyPr wrap="square" lIns="0" tIns="0" rIns="0" bIns="0" rtlCol="0" anchor="t">
            <a:spAutoFit/>
          </a:bodyPr>
          <a:lstStyle/>
          <a:p>
            <a:pPr algn="l">
              <a:lnSpc>
                <a:spcPts val="3240"/>
              </a:lnSpc>
            </a:pPr>
            <a:r>
              <a:rPr lang="en-US" sz="2700" b="1" dirty="0">
                <a:solidFill>
                  <a:srgbClr val="C00000"/>
                </a:solidFill>
                <a:latin typeface="Times New Roman Bold"/>
                <a:ea typeface="Times New Roman Bold"/>
                <a:cs typeface="Times New Roman Bold"/>
                <a:sym typeface="Times New Roman Bold"/>
              </a:rPr>
              <a:t>Date of Review :30/03/2026</a:t>
            </a:r>
          </a:p>
        </p:txBody>
      </p:sp>
      <p:sp>
        <p:nvSpPr>
          <p:cNvPr id="12" name="TextBox 12"/>
          <p:cNvSpPr txBox="1"/>
          <p:nvPr/>
        </p:nvSpPr>
        <p:spPr>
          <a:xfrm>
            <a:off x="13639800" y="8615486"/>
            <a:ext cx="3962400" cy="1302023"/>
          </a:xfrm>
          <a:prstGeom prst="rect">
            <a:avLst/>
          </a:prstGeom>
        </p:spPr>
        <p:txBody>
          <a:bodyPr wrap="square" lIns="0" tIns="0" rIns="0" bIns="0" rtlCol="0" anchor="t">
            <a:spAutoFit/>
          </a:bodyPr>
          <a:lstStyle/>
          <a:p>
            <a:pPr lvl="3">
              <a:lnSpc>
                <a:spcPts val="5400"/>
              </a:lnSpc>
            </a:pPr>
            <a:r>
              <a:rPr lang="en-US" sz="3000" b="1" dirty="0">
                <a:solidFill>
                  <a:srgbClr val="C00000"/>
                </a:solidFill>
                <a:latin typeface="Times New Roman Bold"/>
                <a:ea typeface="Times New Roman Bold"/>
                <a:cs typeface="Times New Roman Bold"/>
                <a:sym typeface="Times New Roman Bold"/>
              </a:rPr>
              <a:t>Guided by,</a:t>
            </a:r>
          </a:p>
          <a:p>
            <a:pPr algn="r">
              <a:lnSpc>
                <a:spcPts val="5400"/>
              </a:lnSpc>
            </a:pPr>
            <a:r>
              <a:rPr lang="en-US" sz="3000" b="1" dirty="0">
                <a:solidFill>
                  <a:srgbClr val="C00000"/>
                </a:solidFill>
                <a:latin typeface="Times New Roman Bold"/>
                <a:ea typeface="Times New Roman Bold"/>
                <a:cs typeface="Times New Roman Bold"/>
                <a:sym typeface="Times New Roman Bold"/>
              </a:rPr>
              <a:t> </a:t>
            </a:r>
            <a:r>
              <a:rPr lang="en-US" sz="3000" b="1" dirty="0" err="1">
                <a:solidFill>
                  <a:srgbClr val="C00000"/>
                </a:solidFill>
                <a:latin typeface="Times New Roman Bold"/>
                <a:ea typeface="Times New Roman Bold"/>
                <a:cs typeface="Times New Roman Bold"/>
                <a:sym typeface="Times New Roman Bold"/>
              </a:rPr>
              <a:t>Mrs.R.Nalini,AP</a:t>
            </a:r>
            <a:r>
              <a:rPr lang="en-US" sz="3000" b="1" dirty="0">
                <a:solidFill>
                  <a:srgbClr val="C00000"/>
                </a:solidFill>
                <a:latin typeface="Times New Roman Bold"/>
                <a:ea typeface="Times New Roman Bold"/>
                <a:cs typeface="Times New Roman Bold"/>
                <a:sym typeface="Times New Roman Bold"/>
              </a:rPr>
              <a:t>/CSE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20713" y="346139"/>
            <a:ext cx="1719815" cy="1500731"/>
            <a:chOff x="0" y="0"/>
            <a:chExt cx="2593950" cy="2560409"/>
          </a:xfrm>
        </p:grpSpPr>
        <p:sp>
          <p:nvSpPr>
            <p:cNvPr id="3" name="Freeform 3"/>
            <p:cNvSpPr/>
            <p:nvPr/>
          </p:nvSpPr>
          <p:spPr>
            <a:xfrm>
              <a:off x="0" y="0"/>
              <a:ext cx="2593975" cy="2560447"/>
            </a:xfrm>
            <a:custGeom>
              <a:avLst/>
              <a:gdLst/>
              <a:ahLst/>
              <a:cxnLst/>
              <a:rect l="l" t="t" r="r" b="b"/>
              <a:pathLst>
                <a:path w="2593975" h="2560447">
                  <a:moveTo>
                    <a:pt x="0" y="0"/>
                  </a:moveTo>
                  <a:lnTo>
                    <a:pt x="2593975" y="0"/>
                  </a:lnTo>
                  <a:lnTo>
                    <a:pt x="2593975" y="2560447"/>
                  </a:lnTo>
                  <a:lnTo>
                    <a:pt x="0" y="2560447"/>
                  </a:lnTo>
                  <a:lnTo>
                    <a:pt x="0" y="0"/>
                  </a:lnTo>
                  <a:close/>
                </a:path>
              </a:pathLst>
            </a:custGeom>
            <a:blipFill>
              <a:blip r:embed="rId2"/>
              <a:stretch>
                <a:fillRect t="-56" b="-55"/>
              </a:stretch>
            </a:blipFill>
          </p:spPr>
        </p:sp>
      </p:grpSp>
      <p:sp>
        <p:nvSpPr>
          <p:cNvPr id="4" name="TextBox 4"/>
          <p:cNvSpPr txBox="1"/>
          <p:nvPr/>
        </p:nvSpPr>
        <p:spPr>
          <a:xfrm>
            <a:off x="5431155" y="1009650"/>
            <a:ext cx="7425690" cy="1041683"/>
          </a:xfrm>
          <a:prstGeom prst="rect">
            <a:avLst/>
          </a:prstGeom>
        </p:spPr>
        <p:txBody>
          <a:bodyPr lIns="0" tIns="0" rIns="0" bIns="0" rtlCol="0" anchor="t">
            <a:spAutoFit/>
          </a:bodyPr>
          <a:lstStyle/>
          <a:p>
            <a:pPr algn="l">
              <a:lnSpc>
                <a:spcPts val="5040"/>
              </a:lnSpc>
            </a:pPr>
            <a:r>
              <a:rPr lang="en-US" sz="4200" b="1" spc="-60">
                <a:solidFill>
                  <a:srgbClr val="FF0066"/>
                </a:solidFill>
                <a:latin typeface="Times New Roman Bold"/>
                <a:ea typeface="Times New Roman Bold"/>
                <a:cs typeface="Times New Roman Bold"/>
                <a:sym typeface="Times New Roman Bold"/>
              </a:rPr>
              <a:t>PROBLEM STATEMENT</a:t>
            </a:r>
          </a:p>
        </p:txBody>
      </p:sp>
      <p:grpSp>
        <p:nvGrpSpPr>
          <p:cNvPr id="5" name="Group 5"/>
          <p:cNvGrpSpPr/>
          <p:nvPr/>
        </p:nvGrpSpPr>
        <p:grpSpPr>
          <a:xfrm>
            <a:off x="15468638" y="162213"/>
            <a:ext cx="2298649" cy="1705194"/>
            <a:chOff x="0" y="0"/>
            <a:chExt cx="3371672" cy="2578862"/>
          </a:xfrm>
        </p:grpSpPr>
        <p:sp>
          <p:nvSpPr>
            <p:cNvPr id="6" name="Freeform 6"/>
            <p:cNvSpPr/>
            <p:nvPr/>
          </p:nvSpPr>
          <p:spPr>
            <a:xfrm>
              <a:off x="0" y="0"/>
              <a:ext cx="3371723" cy="2578862"/>
            </a:xfrm>
            <a:custGeom>
              <a:avLst/>
              <a:gdLst/>
              <a:ahLst/>
              <a:cxnLst/>
              <a:rect l="l" t="t" r="r" b="b"/>
              <a:pathLst>
                <a:path w="3371723" h="2578862">
                  <a:moveTo>
                    <a:pt x="0" y="0"/>
                  </a:moveTo>
                  <a:lnTo>
                    <a:pt x="3371723" y="0"/>
                  </a:lnTo>
                  <a:lnTo>
                    <a:pt x="3371723" y="2578862"/>
                  </a:lnTo>
                  <a:lnTo>
                    <a:pt x="0" y="2578862"/>
                  </a:lnTo>
                  <a:lnTo>
                    <a:pt x="0" y="0"/>
                  </a:lnTo>
                  <a:close/>
                </a:path>
              </a:pathLst>
            </a:custGeom>
            <a:blipFill>
              <a:blip r:embed="rId3"/>
              <a:stretch>
                <a:fillRect t="-1" r="1" b="-1"/>
              </a:stretch>
            </a:blipFill>
          </p:spPr>
        </p:sp>
      </p:grpSp>
      <p:sp>
        <p:nvSpPr>
          <p:cNvPr id="7" name="TextBox 7"/>
          <p:cNvSpPr txBox="1"/>
          <p:nvPr/>
        </p:nvSpPr>
        <p:spPr>
          <a:xfrm>
            <a:off x="1538925" y="2503476"/>
            <a:ext cx="15435815" cy="8823890"/>
          </a:xfrm>
          <a:prstGeom prst="rect">
            <a:avLst/>
          </a:prstGeom>
        </p:spPr>
        <p:txBody>
          <a:bodyPr wrap="square" lIns="0" tIns="0" rIns="0" bIns="0" rtlCol="0" anchor="t">
            <a:spAutoFit/>
          </a:bodyPr>
          <a:lstStyle/>
          <a:p>
            <a:pPr algn="just">
              <a:lnSpc>
                <a:spcPct val="150000"/>
              </a:lnSpc>
            </a:pPr>
            <a:r>
              <a:rPr lang="en-US" sz="4000" dirty="0">
                <a:latin typeface="Times New Roman" panose="02020603050405020304" pitchFamily="18" charset="0"/>
                <a:cs typeface="Times New Roman" panose="02020603050405020304" pitchFamily="18" charset="0"/>
              </a:rPr>
              <a:t>The existing power distribution system uses manual methods to manage consumer details, monitor electricity usage, and handle faults. This process is slow, difficult, and may cause errors during load balancing and fault management. Searching consumer records and generating bills also takes more </a:t>
            </a:r>
            <a:r>
              <a:rPr lang="en-US" sz="4000" dirty="0" err="1">
                <a:latin typeface="Times New Roman" panose="02020603050405020304" pitchFamily="18" charset="0"/>
                <a:cs typeface="Times New Roman" panose="02020603050405020304" pitchFamily="18" charset="0"/>
              </a:rPr>
              <a:t>time.To</a:t>
            </a:r>
            <a:r>
              <a:rPr lang="en-US" sz="4000" dirty="0">
                <a:latin typeface="Times New Roman" panose="02020603050405020304" pitchFamily="18" charset="0"/>
                <a:cs typeface="Times New Roman" panose="02020603050405020304" pitchFamily="18" charset="0"/>
              </a:rPr>
              <a:t> solve these problems, a Smart Power Distribution Management System is developed using C and Data Structures. The system helps manage consumers, monitor load, control faults, generate bills, and search consumer details quickly and efficiently.</a:t>
            </a:r>
          </a:p>
          <a:p>
            <a:pPr marL="340508" lvl="1" algn="just">
              <a:lnSpc>
                <a:spcPts val="5874"/>
              </a:lnSpc>
            </a:pPr>
            <a:endParaRPr lang="en-US" sz="3765"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340746" lvl="1" algn="just">
              <a:lnSpc>
                <a:spcPts val="5874"/>
              </a:lnSpc>
            </a:pPr>
            <a:endParaRPr lang="en-US" sz="3765"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92772" y="1009650"/>
            <a:ext cx="12653962" cy="685800"/>
          </a:xfrm>
          <a:prstGeom prst="rect">
            <a:avLst/>
          </a:prstGeom>
        </p:spPr>
        <p:txBody>
          <a:bodyPr lIns="0" tIns="0" rIns="0" bIns="0" rtlCol="0" anchor="t">
            <a:spAutoFit/>
          </a:bodyPr>
          <a:lstStyle/>
          <a:p>
            <a:pPr algn="l">
              <a:lnSpc>
                <a:spcPts val="5280"/>
              </a:lnSpc>
            </a:pPr>
            <a:r>
              <a:rPr lang="en-US" sz="4400" b="1" spc="-55">
                <a:solidFill>
                  <a:srgbClr val="FF0066"/>
                </a:solidFill>
                <a:latin typeface="Times New Roman Bold"/>
                <a:ea typeface="Times New Roman Bold"/>
                <a:cs typeface="Times New Roman Bold"/>
                <a:sym typeface="Times New Roman Bold"/>
              </a:rPr>
              <a:t>PRESENTATION OVERVIEW</a:t>
            </a:r>
          </a:p>
        </p:txBody>
      </p:sp>
      <p:sp>
        <p:nvSpPr>
          <p:cNvPr id="3" name="TextBox 3"/>
          <p:cNvSpPr txBox="1"/>
          <p:nvPr/>
        </p:nvSpPr>
        <p:spPr>
          <a:xfrm>
            <a:off x="3810000" y="2705100"/>
            <a:ext cx="9703233" cy="5735160"/>
          </a:xfrm>
          <a:prstGeom prst="rect">
            <a:avLst/>
          </a:prstGeom>
        </p:spPr>
        <p:txBody>
          <a:bodyPr lIns="0" tIns="0" rIns="0" bIns="0" rtlCol="0" anchor="t">
            <a:spAutoFit/>
          </a:bodyPr>
          <a:lstStyle/>
          <a:p>
            <a:pPr marL="1933721" lvl="3" indent="-571500" algn="just">
              <a:lnSpc>
                <a:spcPts val="4978"/>
              </a:lnSpc>
              <a:buFont typeface="Wingdings" panose="05000000000000000000" pitchFamily="2" charset="2"/>
              <a:buChar char="Ø"/>
            </a:pPr>
            <a:r>
              <a:rPr lang="en-US" sz="4148" spc="-17" dirty="0">
                <a:solidFill>
                  <a:srgbClr val="000000"/>
                </a:solidFill>
                <a:latin typeface="Times New Roman"/>
                <a:ea typeface="Times New Roman"/>
                <a:cs typeface="Times New Roman"/>
                <a:sym typeface="Times New Roman"/>
              </a:rPr>
              <a:t>Objective of the Project</a:t>
            </a:r>
          </a:p>
          <a:p>
            <a:pPr marL="1933721" lvl="3" indent="-571500" algn="just">
              <a:lnSpc>
                <a:spcPts val="4978"/>
              </a:lnSpc>
              <a:buFont typeface="Wingdings" panose="05000000000000000000" pitchFamily="2" charset="2"/>
              <a:buChar char="Ø"/>
            </a:pPr>
            <a:r>
              <a:rPr lang="en-US" sz="4148" spc="-17" dirty="0">
                <a:solidFill>
                  <a:srgbClr val="000000"/>
                </a:solidFill>
                <a:latin typeface="Times New Roman"/>
                <a:ea typeface="Times New Roman"/>
                <a:cs typeface="Times New Roman"/>
                <a:sym typeface="Times New Roman"/>
              </a:rPr>
              <a:t>Data  Structures  Used</a:t>
            </a:r>
          </a:p>
          <a:p>
            <a:pPr marL="1933721" lvl="3" indent="-571500" algn="just">
              <a:lnSpc>
                <a:spcPts val="4978"/>
              </a:lnSpc>
              <a:buFont typeface="Wingdings" panose="05000000000000000000" pitchFamily="2" charset="2"/>
              <a:buChar char="Ø"/>
            </a:pPr>
            <a:r>
              <a:rPr lang="en-US" sz="4148" spc="-17" dirty="0">
                <a:solidFill>
                  <a:srgbClr val="000000"/>
                </a:solidFill>
                <a:latin typeface="Times New Roman"/>
                <a:ea typeface="Times New Roman"/>
                <a:cs typeface="Times New Roman"/>
                <a:sym typeface="Times New Roman"/>
              </a:rPr>
              <a:t>System Architecture(flow Diagram)</a:t>
            </a:r>
          </a:p>
          <a:p>
            <a:pPr marL="1933721" lvl="3" indent="-571500" algn="just">
              <a:lnSpc>
                <a:spcPts val="4978"/>
              </a:lnSpc>
              <a:buFont typeface="Wingdings" panose="05000000000000000000" pitchFamily="2" charset="2"/>
              <a:buChar char="Ø"/>
            </a:pPr>
            <a:r>
              <a:rPr lang="en-US" sz="4148" spc="-17" dirty="0">
                <a:solidFill>
                  <a:srgbClr val="000000"/>
                </a:solidFill>
                <a:latin typeface="Times New Roman"/>
                <a:ea typeface="Times New Roman"/>
                <a:cs typeface="Times New Roman"/>
                <a:sym typeface="Times New Roman"/>
              </a:rPr>
              <a:t>Modules Used</a:t>
            </a:r>
          </a:p>
          <a:p>
            <a:pPr marL="1933721" lvl="3" indent="-571500" algn="just">
              <a:lnSpc>
                <a:spcPts val="4978"/>
              </a:lnSpc>
              <a:buFont typeface="Wingdings" panose="05000000000000000000" pitchFamily="2" charset="2"/>
              <a:buChar char="Ø"/>
            </a:pPr>
            <a:r>
              <a:rPr lang="en-US" sz="4148" spc="-17" dirty="0">
                <a:solidFill>
                  <a:srgbClr val="000000"/>
                </a:solidFill>
                <a:latin typeface="Times New Roman"/>
                <a:ea typeface="Times New Roman"/>
                <a:cs typeface="Times New Roman"/>
                <a:sym typeface="Times New Roman"/>
              </a:rPr>
              <a:t>Modules Description</a:t>
            </a:r>
          </a:p>
          <a:p>
            <a:pPr marL="1933721" lvl="3" indent="-571500" algn="just">
              <a:lnSpc>
                <a:spcPts val="4978"/>
              </a:lnSpc>
              <a:buFont typeface="Wingdings" panose="05000000000000000000" pitchFamily="2" charset="2"/>
              <a:buChar char="Ø"/>
            </a:pPr>
            <a:r>
              <a:rPr lang="en-US" sz="4148" spc="-17" dirty="0">
                <a:solidFill>
                  <a:srgbClr val="000000"/>
                </a:solidFill>
                <a:latin typeface="Times New Roman"/>
                <a:ea typeface="Times New Roman"/>
                <a:cs typeface="Times New Roman"/>
                <a:sym typeface="Times New Roman"/>
              </a:rPr>
              <a:t>Module Implementation</a:t>
            </a:r>
          </a:p>
          <a:p>
            <a:pPr marL="1933721" lvl="3" indent="-571500" algn="just">
              <a:lnSpc>
                <a:spcPts val="4978"/>
              </a:lnSpc>
              <a:buFont typeface="Wingdings" panose="05000000000000000000" pitchFamily="2" charset="2"/>
              <a:buChar char="Ø"/>
            </a:pPr>
            <a:r>
              <a:rPr lang="en-US" sz="4148" spc="-16" dirty="0">
                <a:solidFill>
                  <a:srgbClr val="000000"/>
                </a:solidFill>
                <a:latin typeface="Times New Roman"/>
                <a:ea typeface="Times New Roman"/>
                <a:cs typeface="Times New Roman"/>
                <a:sym typeface="Times New Roman"/>
              </a:rPr>
              <a:t>Output </a:t>
            </a:r>
          </a:p>
          <a:p>
            <a:pPr marL="1933721" lvl="3" indent="-571500" algn="just">
              <a:lnSpc>
                <a:spcPts val="4978"/>
              </a:lnSpc>
              <a:buFont typeface="Wingdings" panose="05000000000000000000" pitchFamily="2" charset="2"/>
              <a:buChar char="Ø"/>
            </a:pPr>
            <a:r>
              <a:rPr lang="en-US" sz="4148" spc="-16" dirty="0">
                <a:solidFill>
                  <a:srgbClr val="000000"/>
                </a:solidFill>
                <a:latin typeface="Times New Roman"/>
                <a:ea typeface="Times New Roman"/>
                <a:cs typeface="Times New Roman"/>
                <a:sym typeface="Times New Roman"/>
              </a:rPr>
              <a:t>Advantages </a:t>
            </a:r>
          </a:p>
          <a:p>
            <a:pPr marL="1933721" lvl="3" indent="-571500" algn="just">
              <a:lnSpc>
                <a:spcPts val="4978"/>
              </a:lnSpc>
              <a:buFont typeface="Wingdings" panose="05000000000000000000" pitchFamily="2" charset="2"/>
              <a:buChar char="Ø"/>
            </a:pPr>
            <a:r>
              <a:rPr lang="en-US" sz="4148" spc="-17" dirty="0">
                <a:solidFill>
                  <a:srgbClr val="000000"/>
                </a:solidFill>
                <a:latin typeface="Times New Roman"/>
                <a:ea typeface="Times New Roman"/>
                <a:cs typeface="Times New Roman"/>
                <a:sym typeface="Times New Roman"/>
              </a:rPr>
              <a:t>Conclusion </a:t>
            </a:r>
          </a:p>
        </p:txBody>
      </p:sp>
      <p:grpSp>
        <p:nvGrpSpPr>
          <p:cNvPr id="4" name="Group 4"/>
          <p:cNvGrpSpPr/>
          <p:nvPr/>
        </p:nvGrpSpPr>
        <p:grpSpPr>
          <a:xfrm>
            <a:off x="788222" y="538791"/>
            <a:ext cx="1581521" cy="1561033"/>
            <a:chOff x="0" y="0"/>
            <a:chExt cx="2108695" cy="2081378"/>
          </a:xfrm>
        </p:grpSpPr>
        <p:sp>
          <p:nvSpPr>
            <p:cNvPr id="5" name="Freeform 5"/>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6" name="Group 6"/>
          <p:cNvGrpSpPr/>
          <p:nvPr/>
        </p:nvGrpSpPr>
        <p:grpSpPr>
          <a:xfrm>
            <a:off x="15792288" y="464706"/>
            <a:ext cx="2108892" cy="1613116"/>
            <a:chOff x="0" y="0"/>
            <a:chExt cx="2811856" cy="2150821"/>
          </a:xfrm>
        </p:grpSpPr>
        <p:sp>
          <p:nvSpPr>
            <p:cNvPr id="7" name="Freeform 7"/>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09466" y="791770"/>
            <a:ext cx="12653962" cy="939937"/>
          </a:xfrm>
          <a:prstGeom prst="rect">
            <a:avLst/>
          </a:prstGeom>
        </p:spPr>
        <p:txBody>
          <a:bodyPr lIns="0" tIns="0" rIns="0" bIns="0" rtlCol="0" anchor="t">
            <a:spAutoFit/>
          </a:bodyPr>
          <a:lstStyle/>
          <a:p>
            <a:pPr algn="l">
              <a:lnSpc>
                <a:spcPts val="5040"/>
              </a:lnSpc>
            </a:pPr>
            <a:r>
              <a:rPr lang="en-US" sz="4200" b="1">
                <a:solidFill>
                  <a:srgbClr val="FF0066"/>
                </a:solidFill>
                <a:latin typeface="Times New Roman Bold"/>
                <a:ea typeface="Times New Roman Bold"/>
                <a:cs typeface="Times New Roman Bold"/>
                <a:sym typeface="Times New Roman Bold"/>
              </a:rPr>
              <a:t>OBJECTIVE OF THE PROJECT</a:t>
            </a:r>
          </a:p>
        </p:txBody>
      </p:sp>
      <p:grpSp>
        <p:nvGrpSpPr>
          <p:cNvPr id="3" name="Group 3"/>
          <p:cNvGrpSpPr/>
          <p:nvPr/>
        </p:nvGrpSpPr>
        <p:grpSpPr>
          <a:xfrm>
            <a:off x="744464" y="309048"/>
            <a:ext cx="1581521" cy="1561033"/>
            <a:chOff x="0" y="0"/>
            <a:chExt cx="2108695" cy="2081378"/>
          </a:xfrm>
        </p:grpSpPr>
        <p:sp>
          <p:nvSpPr>
            <p:cNvPr id="4" name="Freeform 4"/>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sp>
        <p:nvSpPr>
          <p:cNvPr id="5" name="TextBox 5"/>
          <p:cNvSpPr txBox="1"/>
          <p:nvPr/>
        </p:nvSpPr>
        <p:spPr>
          <a:xfrm>
            <a:off x="2832926" y="2983354"/>
            <a:ext cx="124777" cy="494033"/>
          </a:xfrm>
          <a:prstGeom prst="rect">
            <a:avLst/>
          </a:prstGeom>
        </p:spPr>
        <p:txBody>
          <a:bodyPr lIns="0" tIns="0" rIns="0" bIns="0" rtlCol="0" anchor="t">
            <a:spAutoFit/>
          </a:bodyPr>
          <a:lstStyle/>
          <a:p>
            <a:pPr algn="l">
              <a:lnSpc>
                <a:spcPts val="3240"/>
              </a:lnSpc>
            </a:pPr>
            <a:r>
              <a:rPr lang="en-US" sz="2700" spc="-75">
                <a:solidFill>
                  <a:srgbClr val="000000"/>
                </a:solidFill>
                <a:latin typeface="Calibri (MS)"/>
                <a:ea typeface="Calibri (MS)"/>
                <a:cs typeface="Calibri (MS)"/>
                <a:sym typeface="Calibri (MS)"/>
              </a:rPr>
              <a:t>.</a:t>
            </a:r>
          </a:p>
        </p:txBody>
      </p:sp>
      <p:grpSp>
        <p:nvGrpSpPr>
          <p:cNvPr id="6" name="Group 6"/>
          <p:cNvGrpSpPr/>
          <p:nvPr/>
        </p:nvGrpSpPr>
        <p:grpSpPr>
          <a:xfrm>
            <a:off x="15792288" y="464706"/>
            <a:ext cx="2108892" cy="1613116"/>
            <a:chOff x="0" y="0"/>
            <a:chExt cx="2811856" cy="2150821"/>
          </a:xfrm>
        </p:grpSpPr>
        <p:sp>
          <p:nvSpPr>
            <p:cNvPr id="7" name="Freeform 7"/>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grpSp>
        <p:nvGrpSpPr>
          <p:cNvPr id="8" name="Group 8"/>
          <p:cNvGrpSpPr/>
          <p:nvPr/>
        </p:nvGrpSpPr>
        <p:grpSpPr>
          <a:xfrm>
            <a:off x="3746542" y="464706"/>
            <a:ext cx="17646959" cy="9953411"/>
            <a:chOff x="0" y="-152400"/>
            <a:chExt cx="23928716" cy="13496510"/>
          </a:xfrm>
        </p:grpSpPr>
        <p:sp>
          <p:nvSpPr>
            <p:cNvPr id="9" name="Freeform 9"/>
            <p:cNvSpPr/>
            <p:nvPr/>
          </p:nvSpPr>
          <p:spPr>
            <a:xfrm>
              <a:off x="2376858" y="305199"/>
              <a:ext cx="21551858" cy="13038911"/>
            </a:xfrm>
            <a:custGeom>
              <a:avLst/>
              <a:gdLst/>
              <a:ahLst/>
              <a:cxnLst/>
              <a:rect l="l" t="t" r="r" b="b"/>
              <a:pathLst>
                <a:path w="21551858" h="12974577">
                  <a:moveTo>
                    <a:pt x="0" y="0"/>
                  </a:moveTo>
                  <a:lnTo>
                    <a:pt x="21551858" y="0"/>
                  </a:lnTo>
                  <a:lnTo>
                    <a:pt x="21551858" y="12974577"/>
                  </a:lnTo>
                  <a:lnTo>
                    <a:pt x="0" y="12974577"/>
                  </a:lnTo>
                  <a:close/>
                </a:path>
              </a:pathLst>
            </a:custGeom>
            <a:blipFill>
              <a:blip r:embed="rId4">
                <a:alphaModFix amt="0"/>
              </a:blip>
              <a:stretch>
                <a:fillRect l="-1579" r="8614" b="39821"/>
              </a:stretch>
            </a:blipFill>
          </p:spPr>
          <p:txBody>
            <a:bodyPr/>
            <a:lstStyle/>
            <a:p>
              <a:pPr algn="ctr"/>
              <a:endParaRPr lang="en-IN" dirty="0"/>
            </a:p>
          </p:txBody>
        </p:sp>
        <p:sp>
          <p:nvSpPr>
            <p:cNvPr id="10" name="TextBox 10"/>
            <p:cNvSpPr txBox="1"/>
            <p:nvPr/>
          </p:nvSpPr>
          <p:spPr>
            <a:xfrm>
              <a:off x="0" y="-152400"/>
              <a:ext cx="21551858" cy="13126979"/>
            </a:xfrm>
            <a:prstGeom prst="rect">
              <a:avLst/>
            </a:prstGeom>
          </p:spPr>
          <p:txBody>
            <a:bodyPr lIns="0" tIns="0" rIns="0" bIns="0" rtlCol="0" anchor="ctr"/>
            <a:lstStyle/>
            <a:p>
              <a:pPr algn="ctr">
                <a:lnSpc>
                  <a:spcPts val="5530"/>
                </a:lnSpc>
              </a:pPr>
              <a:endParaRPr lang="en-US" sz="3500" spc="140" dirty="0">
                <a:solidFill>
                  <a:srgbClr val="000000"/>
                </a:solidFill>
                <a:latin typeface="Times New Roman"/>
                <a:ea typeface="Times New Roman"/>
                <a:cs typeface="Times New Roman"/>
                <a:sym typeface="Times New Roman"/>
              </a:endParaRPr>
            </a:p>
          </p:txBody>
        </p:sp>
      </p:grpSp>
      <p:sp>
        <p:nvSpPr>
          <p:cNvPr id="12" name="Rectangle 2">
            <a:extLst>
              <a:ext uri="{FF2B5EF4-FFF2-40B4-BE49-F238E27FC236}">
                <a16:creationId xmlns:a16="http://schemas.microsoft.com/office/drawing/2014/main" id="{7EEA367E-241E-DE17-C697-CD2F6EA08D59}"/>
              </a:ext>
            </a:extLst>
          </p:cNvPr>
          <p:cNvSpPr>
            <a:spLocks noChangeArrowheads="1"/>
          </p:cNvSpPr>
          <p:nvPr/>
        </p:nvSpPr>
        <p:spPr bwMode="auto">
          <a:xfrm>
            <a:off x="870424" y="1731707"/>
            <a:ext cx="18560575" cy="7368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buFontTx/>
              <a:buChar char="•"/>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Smart Power Distribution Management System using C programming. </a:t>
            </a:r>
          </a:p>
          <a:p>
            <a:pPr eaLnBrk="0" fontAlgn="base" hangingPunct="0">
              <a:lnSpc>
                <a:spcPct val="150000"/>
              </a:lnSpc>
              <a:spcBef>
                <a:spcPct val="0"/>
              </a:spcBef>
              <a:spcAft>
                <a:spcPct val="0"/>
              </a:spcAft>
              <a:buFontTx/>
              <a:buChar char="•"/>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manage consumer details efficiently using Linked List. </a:t>
            </a:r>
          </a:p>
          <a:p>
            <a:pPr eaLnBrk="0" fontAlgn="base" hangingPunct="0">
              <a:lnSpc>
                <a:spcPct val="150000"/>
              </a:lnSpc>
              <a:spcBef>
                <a:spcPct val="0"/>
              </a:spcBef>
              <a:spcAft>
                <a:spcPct val="0"/>
              </a:spcAft>
              <a:buFontTx/>
              <a:buChar char="•"/>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search consumer records quickly using Binary Search Tree (BST). </a:t>
            </a:r>
          </a:p>
          <a:p>
            <a:pPr eaLnBrk="0" fontAlgn="base" hangingPunct="0">
              <a:lnSpc>
                <a:spcPct val="150000"/>
              </a:lnSpc>
              <a:spcBef>
                <a:spcPct val="0"/>
              </a:spcBef>
              <a:spcAft>
                <a:spcPct val="0"/>
              </a:spcAft>
              <a:buFontTx/>
              <a:buChar char="•"/>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handle power faults using Queue data structure. </a:t>
            </a:r>
          </a:p>
          <a:p>
            <a:pPr eaLnBrk="0" fontAlgn="base" hangingPunct="0">
              <a:lnSpc>
                <a:spcPct val="150000"/>
              </a:lnSpc>
              <a:spcBef>
                <a:spcPct val="0"/>
              </a:spcBef>
              <a:spcAft>
                <a:spcPct val="0"/>
              </a:spcAft>
              <a:buFontTx/>
              <a:buChar char="•"/>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monitor and balance electrical load distribution. </a:t>
            </a:r>
          </a:p>
          <a:p>
            <a:pPr eaLnBrk="0" fontAlgn="base" hangingPunct="0">
              <a:lnSpc>
                <a:spcPct val="150000"/>
              </a:lnSpc>
              <a:spcBef>
                <a:spcPct val="0"/>
              </a:spcBef>
              <a:spcAft>
                <a:spcPct val="0"/>
              </a:spcAft>
              <a:buFontTx/>
              <a:buChar char="•"/>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generate electricity billing reports automatically. </a:t>
            </a:r>
          </a:p>
          <a:p>
            <a:pPr eaLnBrk="0" fontAlgn="base" hangingPunct="0">
              <a:lnSpc>
                <a:spcPct val="150000"/>
              </a:lnSpc>
              <a:spcBef>
                <a:spcPct val="0"/>
              </a:spcBef>
              <a:spcAft>
                <a:spcPct val="0"/>
              </a:spcAft>
              <a:buFontTx/>
              <a:buChar char="•"/>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the efficiency and reliability of power distribution management.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443992" y="-402117"/>
            <a:ext cx="10221297" cy="2505075"/>
          </a:xfrm>
          <a:prstGeom prst="rect">
            <a:avLst/>
          </a:prstGeom>
        </p:spPr>
        <p:txBody>
          <a:bodyPr lIns="0" tIns="0" rIns="0" bIns="0" rtlCol="0" anchor="t">
            <a:spAutoFit/>
          </a:bodyPr>
          <a:lstStyle/>
          <a:p>
            <a:pPr algn="ctr">
              <a:lnSpc>
                <a:spcPts val="4920"/>
              </a:lnSpc>
            </a:pPr>
            <a:r>
              <a:rPr lang="en-US" sz="4100" b="1">
                <a:solidFill>
                  <a:srgbClr val="0000FF"/>
                </a:solidFill>
                <a:latin typeface="Times New Roman Bold"/>
                <a:ea typeface="Times New Roman Bold"/>
                <a:cs typeface="Times New Roman Bold"/>
                <a:sym typeface="Times New Roman Bold"/>
              </a:rPr>
              <a:t> </a:t>
            </a:r>
          </a:p>
          <a:p>
            <a:pPr algn="ctr">
              <a:lnSpc>
                <a:spcPts val="4920"/>
              </a:lnSpc>
            </a:pPr>
            <a:endParaRPr lang="en-US" sz="4100" b="1">
              <a:solidFill>
                <a:srgbClr val="0000FF"/>
              </a:solidFill>
              <a:latin typeface="Times New Roman Bold"/>
              <a:ea typeface="Times New Roman Bold"/>
              <a:cs typeface="Times New Roman Bold"/>
              <a:sym typeface="Times New Roman Bold"/>
            </a:endParaRPr>
          </a:p>
          <a:p>
            <a:pPr algn="ctr">
              <a:lnSpc>
                <a:spcPts val="4920"/>
              </a:lnSpc>
            </a:pPr>
            <a:r>
              <a:rPr lang="en-US" sz="4100" b="1">
                <a:solidFill>
                  <a:srgbClr val="FF0066"/>
                </a:solidFill>
                <a:latin typeface="Times New Roman Bold"/>
                <a:ea typeface="Times New Roman Bold"/>
                <a:cs typeface="Times New Roman Bold"/>
                <a:sym typeface="Times New Roman Bold"/>
              </a:rPr>
              <a:t>DATA  STRUCTURES  USED</a:t>
            </a:r>
          </a:p>
          <a:p>
            <a:pPr algn="ctr">
              <a:lnSpc>
                <a:spcPts val="4920"/>
              </a:lnSpc>
            </a:pPr>
            <a:endParaRPr lang="en-US" sz="4100" b="1">
              <a:solidFill>
                <a:srgbClr val="FF0066"/>
              </a:solidFill>
              <a:latin typeface="Times New Roman Bold"/>
              <a:ea typeface="Times New Roman Bold"/>
              <a:cs typeface="Times New Roman Bold"/>
              <a:sym typeface="Times New Roman Bold"/>
            </a:endParaRPr>
          </a:p>
        </p:txBody>
      </p:sp>
      <p:grpSp>
        <p:nvGrpSpPr>
          <p:cNvPr id="3" name="Group 3"/>
          <p:cNvGrpSpPr/>
          <p:nvPr/>
        </p:nvGrpSpPr>
        <p:grpSpPr>
          <a:xfrm>
            <a:off x="732006" y="296694"/>
            <a:ext cx="1600200" cy="1585912"/>
            <a:chOff x="0" y="0"/>
            <a:chExt cx="2133600" cy="2114550"/>
          </a:xfrm>
        </p:grpSpPr>
        <p:sp>
          <p:nvSpPr>
            <p:cNvPr id="4" name="Freeform 4"/>
            <p:cNvSpPr/>
            <p:nvPr/>
          </p:nvSpPr>
          <p:spPr>
            <a:xfrm>
              <a:off x="0" y="0"/>
              <a:ext cx="2133600" cy="2114550"/>
            </a:xfrm>
            <a:custGeom>
              <a:avLst/>
              <a:gdLst/>
              <a:ahLst/>
              <a:cxnLst/>
              <a:rect l="l" t="t" r="r" b="b"/>
              <a:pathLst>
                <a:path w="2133600" h="2114550">
                  <a:moveTo>
                    <a:pt x="0" y="0"/>
                  </a:moveTo>
                  <a:lnTo>
                    <a:pt x="2133600" y="0"/>
                  </a:lnTo>
                  <a:lnTo>
                    <a:pt x="2133600" y="2114550"/>
                  </a:lnTo>
                  <a:lnTo>
                    <a:pt x="0" y="2114550"/>
                  </a:lnTo>
                  <a:lnTo>
                    <a:pt x="0" y="0"/>
                  </a:lnTo>
                  <a:close/>
                </a:path>
              </a:pathLst>
            </a:custGeom>
            <a:blipFill>
              <a:blip r:embed="rId3"/>
              <a:stretch>
                <a:fillRect b="-115"/>
              </a:stretch>
            </a:blipFill>
          </p:spPr>
        </p:sp>
      </p:grpSp>
      <p:sp>
        <p:nvSpPr>
          <p:cNvPr id="5" name="TextBox 5"/>
          <p:cNvSpPr txBox="1"/>
          <p:nvPr/>
        </p:nvSpPr>
        <p:spPr>
          <a:xfrm>
            <a:off x="2806065" y="2988945"/>
            <a:ext cx="11497151" cy="520541"/>
          </a:xfrm>
          <a:prstGeom prst="rect">
            <a:avLst/>
          </a:prstGeom>
        </p:spPr>
        <p:txBody>
          <a:bodyPr lIns="0" tIns="0" rIns="0" bIns="0" rtlCol="0" anchor="t">
            <a:spAutoFit/>
          </a:bodyPr>
          <a:lstStyle/>
          <a:p>
            <a:pPr algn="just">
              <a:lnSpc>
                <a:spcPts val="3240"/>
              </a:lnSpc>
            </a:pPr>
            <a:r>
              <a:rPr lang="en-US" sz="2700">
                <a:solidFill>
                  <a:srgbClr val="000000"/>
                </a:solidFill>
                <a:latin typeface="Calibri (MS)"/>
                <a:ea typeface="Calibri (MS)"/>
                <a:cs typeface="Calibri (MS)"/>
                <a:sym typeface="Calibri (MS)"/>
              </a:rPr>
              <a:t>.</a:t>
            </a:r>
          </a:p>
        </p:txBody>
      </p:sp>
      <p:grpSp>
        <p:nvGrpSpPr>
          <p:cNvPr id="6" name="Group 6"/>
          <p:cNvGrpSpPr/>
          <p:nvPr/>
        </p:nvGrpSpPr>
        <p:grpSpPr>
          <a:xfrm>
            <a:off x="15691885" y="464734"/>
            <a:ext cx="2265893" cy="1638224"/>
            <a:chOff x="0" y="0"/>
            <a:chExt cx="3021190" cy="2184298"/>
          </a:xfrm>
        </p:grpSpPr>
        <p:sp>
          <p:nvSpPr>
            <p:cNvPr id="7" name="Freeform 7" descr="A blue and white logo  Description automatically generated"/>
            <p:cNvSpPr/>
            <p:nvPr/>
          </p:nvSpPr>
          <p:spPr>
            <a:xfrm>
              <a:off x="0" y="0"/>
              <a:ext cx="3021203" cy="2184273"/>
            </a:xfrm>
            <a:custGeom>
              <a:avLst/>
              <a:gdLst/>
              <a:ahLst/>
              <a:cxnLst/>
              <a:rect l="l" t="t" r="r" b="b"/>
              <a:pathLst>
                <a:path w="3021203" h="2184273">
                  <a:moveTo>
                    <a:pt x="0" y="0"/>
                  </a:moveTo>
                  <a:lnTo>
                    <a:pt x="3021203" y="0"/>
                  </a:lnTo>
                  <a:lnTo>
                    <a:pt x="3021203" y="2184273"/>
                  </a:lnTo>
                  <a:lnTo>
                    <a:pt x="0" y="2184273"/>
                  </a:lnTo>
                  <a:lnTo>
                    <a:pt x="0" y="0"/>
                  </a:lnTo>
                  <a:close/>
                </a:path>
              </a:pathLst>
            </a:custGeom>
            <a:blipFill>
              <a:blip r:embed="rId4"/>
              <a:stretch>
                <a:fillRect b="-1"/>
              </a:stretch>
            </a:blipFill>
          </p:spPr>
        </p:sp>
      </p:grpSp>
      <p:sp>
        <p:nvSpPr>
          <p:cNvPr id="8" name="TextBox 8"/>
          <p:cNvSpPr txBox="1"/>
          <p:nvPr/>
        </p:nvSpPr>
        <p:spPr>
          <a:xfrm>
            <a:off x="5621349" y="2725177"/>
            <a:ext cx="16087879" cy="4836645"/>
          </a:xfrm>
          <a:prstGeom prst="rect">
            <a:avLst/>
          </a:prstGeom>
        </p:spPr>
        <p:txBody>
          <a:bodyPr lIns="0" tIns="0" rIns="0" bIns="0" rtlCol="0" anchor="t">
            <a:spAutoFit/>
          </a:bodyPr>
          <a:lstStyle/>
          <a:p>
            <a:pPr marL="285750" indent="-285750">
              <a:lnSpc>
                <a:spcPct val="150000"/>
              </a:lnSpc>
              <a:buFont typeface="Wingdings" panose="05000000000000000000" pitchFamily="2" charset="2"/>
              <a:buChar char="§"/>
            </a:pPr>
            <a:r>
              <a:rPr lang="en-IN" sz="5400" dirty="0">
                <a:latin typeface="Times New Roman" panose="02020603050405020304" pitchFamily="18" charset="0"/>
                <a:cs typeface="Times New Roman" panose="02020603050405020304" pitchFamily="18" charset="0"/>
              </a:rPr>
              <a:t>Structure</a:t>
            </a:r>
          </a:p>
          <a:p>
            <a:pPr marL="285750" indent="-285750">
              <a:lnSpc>
                <a:spcPct val="150000"/>
              </a:lnSpc>
              <a:buFont typeface="Wingdings" panose="05000000000000000000" pitchFamily="2" charset="2"/>
              <a:buChar char="§"/>
            </a:pPr>
            <a:r>
              <a:rPr lang="en-IN" sz="5400" dirty="0">
                <a:latin typeface="Times New Roman" panose="02020603050405020304" pitchFamily="18" charset="0"/>
                <a:cs typeface="Times New Roman" panose="02020603050405020304" pitchFamily="18" charset="0"/>
              </a:rPr>
              <a:t>Linked List</a:t>
            </a:r>
          </a:p>
          <a:p>
            <a:pPr marL="285750" indent="-285750">
              <a:lnSpc>
                <a:spcPct val="150000"/>
              </a:lnSpc>
              <a:buFont typeface="Wingdings" panose="05000000000000000000" pitchFamily="2" charset="2"/>
              <a:buChar char="§"/>
            </a:pPr>
            <a:r>
              <a:rPr lang="en-IN" sz="5400" dirty="0">
                <a:latin typeface="Times New Roman" panose="02020603050405020304" pitchFamily="18" charset="0"/>
                <a:cs typeface="Times New Roman" panose="02020603050405020304" pitchFamily="18" charset="0"/>
              </a:rPr>
              <a:t>Binary Search Tree</a:t>
            </a:r>
          </a:p>
          <a:p>
            <a:pPr marL="285750" indent="-285750">
              <a:lnSpc>
                <a:spcPct val="150000"/>
              </a:lnSpc>
              <a:buFont typeface="Wingdings" panose="05000000000000000000" pitchFamily="2" charset="2"/>
              <a:buChar char="§"/>
            </a:pPr>
            <a:r>
              <a:rPr lang="en-IN" sz="5400" dirty="0">
                <a:latin typeface="Times New Roman" panose="02020603050405020304" pitchFamily="18" charset="0"/>
                <a:cs typeface="Times New Roman" panose="02020603050405020304" pitchFamily="18" charset="0"/>
              </a:rPr>
              <a:t>Queue</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44464" y="309048"/>
            <a:ext cx="1581521" cy="1561033"/>
            <a:chOff x="0" y="0"/>
            <a:chExt cx="2108695" cy="2081378"/>
          </a:xfrm>
        </p:grpSpPr>
        <p:sp>
          <p:nvSpPr>
            <p:cNvPr id="3" name="Freeform 3"/>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4" name="Group 4"/>
          <p:cNvGrpSpPr/>
          <p:nvPr/>
        </p:nvGrpSpPr>
        <p:grpSpPr>
          <a:xfrm>
            <a:off x="15792288" y="464706"/>
            <a:ext cx="2108892" cy="1613116"/>
            <a:chOff x="0" y="0"/>
            <a:chExt cx="2811856" cy="2150821"/>
          </a:xfrm>
        </p:grpSpPr>
        <p:sp>
          <p:nvSpPr>
            <p:cNvPr id="5" name="Freeform 5"/>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sp>
        <p:nvSpPr>
          <p:cNvPr id="7" name="TextBox 7"/>
          <p:cNvSpPr txBox="1"/>
          <p:nvPr/>
        </p:nvSpPr>
        <p:spPr>
          <a:xfrm>
            <a:off x="2832926" y="304831"/>
            <a:ext cx="12039003" cy="1225125"/>
          </a:xfrm>
          <a:prstGeom prst="rect">
            <a:avLst/>
          </a:prstGeom>
        </p:spPr>
        <p:txBody>
          <a:bodyPr lIns="0" tIns="0" rIns="0" bIns="0" rtlCol="0" anchor="t">
            <a:spAutoFit/>
          </a:bodyPr>
          <a:lstStyle/>
          <a:p>
            <a:pPr algn="ctr">
              <a:lnSpc>
                <a:spcPts val="4797"/>
              </a:lnSpc>
            </a:pPr>
            <a:r>
              <a:rPr lang="en-US" sz="3998" b="1" dirty="0">
                <a:solidFill>
                  <a:srgbClr val="FF0066"/>
                </a:solidFill>
                <a:latin typeface="Times New Roman Bold"/>
                <a:ea typeface="Times New Roman Bold"/>
                <a:cs typeface="Times New Roman Bold"/>
                <a:sym typeface="Times New Roman Bold"/>
              </a:rPr>
              <a:t>PROPOSED SYSTEM</a:t>
            </a:r>
          </a:p>
          <a:p>
            <a:pPr algn="ctr">
              <a:lnSpc>
                <a:spcPts val="4797"/>
              </a:lnSpc>
            </a:pPr>
            <a:r>
              <a:rPr lang="en-US" sz="3998" b="1" dirty="0">
                <a:solidFill>
                  <a:srgbClr val="FF0066"/>
                </a:solidFill>
                <a:latin typeface="Times New Roman Bold"/>
                <a:ea typeface="Times New Roman Bold"/>
                <a:cs typeface="Times New Roman Bold"/>
                <a:sym typeface="Times New Roman Bold"/>
              </a:rPr>
              <a:t>ARCHITECTURE/FLOW DIAGRAM</a:t>
            </a:r>
          </a:p>
        </p:txBody>
      </p:sp>
      <p:sp>
        <p:nvSpPr>
          <p:cNvPr id="8" name="TextBox 8"/>
          <p:cNvSpPr txBox="1"/>
          <p:nvPr/>
        </p:nvSpPr>
        <p:spPr>
          <a:xfrm>
            <a:off x="2832926" y="2983354"/>
            <a:ext cx="124777" cy="494033"/>
          </a:xfrm>
          <a:prstGeom prst="rect">
            <a:avLst/>
          </a:prstGeom>
        </p:spPr>
        <p:txBody>
          <a:bodyPr lIns="0" tIns="0" rIns="0" bIns="0" rtlCol="0" anchor="t">
            <a:spAutoFit/>
          </a:bodyPr>
          <a:lstStyle/>
          <a:p>
            <a:pPr algn="l">
              <a:lnSpc>
                <a:spcPts val="3240"/>
              </a:lnSpc>
            </a:pPr>
            <a:r>
              <a:rPr lang="en-US" sz="2700" spc="-75">
                <a:solidFill>
                  <a:srgbClr val="000000"/>
                </a:solidFill>
                <a:latin typeface="Calibri (MS)"/>
                <a:ea typeface="Calibri (MS)"/>
                <a:cs typeface="Calibri (MS)"/>
                <a:sym typeface="Calibri (MS)"/>
              </a:rPr>
              <a:t>.</a:t>
            </a:r>
          </a:p>
        </p:txBody>
      </p:sp>
      <p:pic>
        <p:nvPicPr>
          <p:cNvPr id="11" name="Picture 10">
            <a:extLst>
              <a:ext uri="{FF2B5EF4-FFF2-40B4-BE49-F238E27FC236}">
                <a16:creationId xmlns:a16="http://schemas.microsoft.com/office/drawing/2014/main" id="{B910757B-85C5-CEDD-3222-BCD701C3AE16}"/>
              </a:ext>
            </a:extLst>
          </p:cNvPr>
          <p:cNvPicPr>
            <a:picLocks noChangeAspect="1"/>
          </p:cNvPicPr>
          <p:nvPr/>
        </p:nvPicPr>
        <p:blipFill rotWithShape="1">
          <a:blip r:embed="rId4">
            <a:extLst>
              <a:ext uri="{28A0092B-C50C-407E-A947-70E740481C1C}">
                <a14:useLocalDpi xmlns:a14="http://schemas.microsoft.com/office/drawing/2010/main" val="0"/>
              </a:ext>
            </a:extLst>
          </a:blip>
          <a:srcRect b="33496"/>
          <a:stretch>
            <a:fillRect/>
          </a:stretch>
        </p:blipFill>
        <p:spPr bwMode="auto">
          <a:xfrm>
            <a:off x="4114800" y="1538748"/>
            <a:ext cx="8485823" cy="8467606"/>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4227C-D78E-1233-285D-20EE55CF32C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BC6D7D-0B9C-8B2E-0FA0-7879C3BF2892}"/>
              </a:ext>
            </a:extLst>
          </p:cNvPr>
          <p:cNvGrpSpPr/>
          <p:nvPr/>
        </p:nvGrpSpPr>
        <p:grpSpPr>
          <a:xfrm>
            <a:off x="744464" y="309048"/>
            <a:ext cx="1581521" cy="1561033"/>
            <a:chOff x="0" y="0"/>
            <a:chExt cx="2108695" cy="2081378"/>
          </a:xfrm>
        </p:grpSpPr>
        <p:sp>
          <p:nvSpPr>
            <p:cNvPr id="3" name="Freeform 3">
              <a:extLst>
                <a:ext uri="{FF2B5EF4-FFF2-40B4-BE49-F238E27FC236}">
                  <a16:creationId xmlns:a16="http://schemas.microsoft.com/office/drawing/2014/main" id="{BF599B95-BB5A-0F91-9BD9-CE9589EE39C4}"/>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4" name="Group 4">
            <a:extLst>
              <a:ext uri="{FF2B5EF4-FFF2-40B4-BE49-F238E27FC236}">
                <a16:creationId xmlns:a16="http://schemas.microsoft.com/office/drawing/2014/main" id="{F93182C9-CFAE-E8BE-0ED7-763362D36AC2}"/>
              </a:ext>
            </a:extLst>
          </p:cNvPr>
          <p:cNvGrpSpPr/>
          <p:nvPr/>
        </p:nvGrpSpPr>
        <p:grpSpPr>
          <a:xfrm>
            <a:off x="15792288" y="464706"/>
            <a:ext cx="2108892" cy="1613116"/>
            <a:chOff x="0" y="0"/>
            <a:chExt cx="2811856" cy="2150821"/>
          </a:xfrm>
        </p:grpSpPr>
        <p:sp>
          <p:nvSpPr>
            <p:cNvPr id="5" name="Freeform 5">
              <a:extLst>
                <a:ext uri="{FF2B5EF4-FFF2-40B4-BE49-F238E27FC236}">
                  <a16:creationId xmlns:a16="http://schemas.microsoft.com/office/drawing/2014/main" id="{FDA96B52-70AA-C3C3-C49B-9F3D647B69DF}"/>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sp>
        <p:nvSpPr>
          <p:cNvPr id="7" name="TextBox 7">
            <a:extLst>
              <a:ext uri="{FF2B5EF4-FFF2-40B4-BE49-F238E27FC236}">
                <a16:creationId xmlns:a16="http://schemas.microsoft.com/office/drawing/2014/main" id="{E75767B6-7515-A23D-DA7A-C5DE0468BAA7}"/>
              </a:ext>
            </a:extLst>
          </p:cNvPr>
          <p:cNvSpPr txBox="1"/>
          <p:nvPr/>
        </p:nvSpPr>
        <p:spPr>
          <a:xfrm>
            <a:off x="2591397" y="798628"/>
            <a:ext cx="12039003" cy="581891"/>
          </a:xfrm>
          <a:prstGeom prst="rect">
            <a:avLst/>
          </a:prstGeom>
        </p:spPr>
        <p:txBody>
          <a:bodyPr lIns="0" tIns="0" rIns="0" bIns="0" rtlCol="0" anchor="t">
            <a:spAutoFit/>
          </a:bodyPr>
          <a:lstStyle/>
          <a:p>
            <a:pPr algn="ctr">
              <a:lnSpc>
                <a:spcPts val="4797"/>
              </a:lnSpc>
            </a:pPr>
            <a:r>
              <a:rPr lang="en-US" sz="3998" b="1" dirty="0">
                <a:solidFill>
                  <a:srgbClr val="FF0066"/>
                </a:solidFill>
                <a:latin typeface="Times New Roman Bold"/>
                <a:ea typeface="Times New Roman Bold"/>
                <a:cs typeface="Times New Roman Bold"/>
                <a:sym typeface="Times New Roman Bold"/>
              </a:rPr>
              <a:t>MODULES USED</a:t>
            </a:r>
          </a:p>
        </p:txBody>
      </p:sp>
      <p:sp>
        <p:nvSpPr>
          <p:cNvPr id="8" name="TextBox 8">
            <a:extLst>
              <a:ext uri="{FF2B5EF4-FFF2-40B4-BE49-F238E27FC236}">
                <a16:creationId xmlns:a16="http://schemas.microsoft.com/office/drawing/2014/main" id="{9D2C1921-F7AA-249D-BFB9-135AAD4D7A96}"/>
              </a:ext>
            </a:extLst>
          </p:cNvPr>
          <p:cNvSpPr txBox="1"/>
          <p:nvPr/>
        </p:nvSpPr>
        <p:spPr>
          <a:xfrm>
            <a:off x="2832926" y="2983354"/>
            <a:ext cx="124777" cy="494033"/>
          </a:xfrm>
          <a:prstGeom prst="rect">
            <a:avLst/>
          </a:prstGeom>
        </p:spPr>
        <p:txBody>
          <a:bodyPr lIns="0" tIns="0" rIns="0" bIns="0" rtlCol="0" anchor="t">
            <a:spAutoFit/>
          </a:bodyPr>
          <a:lstStyle/>
          <a:p>
            <a:pPr algn="l">
              <a:lnSpc>
                <a:spcPts val="3240"/>
              </a:lnSpc>
            </a:pPr>
            <a:r>
              <a:rPr lang="en-US" sz="2700" spc="-75">
                <a:solidFill>
                  <a:srgbClr val="000000"/>
                </a:solidFill>
                <a:latin typeface="Calibri (MS)"/>
                <a:ea typeface="Calibri (MS)"/>
                <a:cs typeface="Calibri (MS)"/>
                <a:sym typeface="Calibri (MS)"/>
              </a:rPr>
              <a:t>.</a:t>
            </a:r>
          </a:p>
        </p:txBody>
      </p:sp>
      <p:sp>
        <p:nvSpPr>
          <p:cNvPr id="9" name="TextBox 8">
            <a:extLst>
              <a:ext uri="{FF2B5EF4-FFF2-40B4-BE49-F238E27FC236}">
                <a16:creationId xmlns:a16="http://schemas.microsoft.com/office/drawing/2014/main" id="{6DCBB989-0DB4-DF1E-7595-E7B9E191B3B8}"/>
              </a:ext>
            </a:extLst>
          </p:cNvPr>
          <p:cNvSpPr txBox="1"/>
          <p:nvPr/>
        </p:nvSpPr>
        <p:spPr>
          <a:xfrm>
            <a:off x="5486400" y="2727454"/>
            <a:ext cx="9144000" cy="5909310"/>
          </a:xfrm>
          <a:prstGeom prst="rect">
            <a:avLst/>
          </a:prstGeom>
          <a:noFill/>
        </p:spPr>
        <p:txBody>
          <a:bodyPr wrap="square">
            <a:spAutoFit/>
          </a:bodyPr>
          <a:lstStyle/>
          <a:p>
            <a:pPr marL="571500" indent="-571500">
              <a:buFont typeface="Wingdings" panose="05000000000000000000" pitchFamily="2" charset="2"/>
              <a:buChar char="v"/>
            </a:pPr>
            <a:r>
              <a:rPr lang="en-US" sz="5400" dirty="0">
                <a:latin typeface="Times New Roman" panose="02020603050405020304" pitchFamily="18" charset="0"/>
                <a:cs typeface="Times New Roman" panose="02020603050405020304" pitchFamily="18" charset="0"/>
              </a:rPr>
              <a:t>Consumer</a:t>
            </a:r>
          </a:p>
          <a:p>
            <a:pPr marL="571500" indent="-571500">
              <a:buFont typeface="Wingdings" panose="05000000000000000000" pitchFamily="2" charset="2"/>
              <a:buChar char="v"/>
            </a:pPr>
            <a:r>
              <a:rPr lang="en-US" sz="5400" dirty="0">
                <a:latin typeface="Times New Roman" panose="02020603050405020304" pitchFamily="18" charset="0"/>
                <a:cs typeface="Times New Roman" panose="02020603050405020304" pitchFamily="18" charset="0"/>
              </a:rPr>
              <a:t>Power Station Details</a:t>
            </a:r>
          </a:p>
          <a:p>
            <a:pPr marL="571500" indent="-571500">
              <a:buFont typeface="Wingdings" panose="05000000000000000000" pitchFamily="2" charset="2"/>
              <a:buChar char="v"/>
            </a:pPr>
            <a:r>
              <a:rPr lang="en-US" sz="5400" dirty="0">
                <a:latin typeface="Times New Roman" panose="02020603050405020304" pitchFamily="18" charset="0"/>
                <a:cs typeface="Times New Roman" panose="02020603050405020304" pitchFamily="18" charset="0"/>
              </a:rPr>
              <a:t>Load Checking</a:t>
            </a:r>
          </a:p>
          <a:p>
            <a:pPr marL="571500" indent="-571500">
              <a:buFont typeface="Wingdings" panose="05000000000000000000" pitchFamily="2" charset="2"/>
              <a:buChar char="v"/>
            </a:pPr>
            <a:r>
              <a:rPr lang="en-US" sz="5400" dirty="0">
                <a:latin typeface="Times New Roman" panose="02020603050405020304" pitchFamily="18" charset="0"/>
                <a:cs typeface="Times New Roman" panose="02020603050405020304" pitchFamily="18" charset="0"/>
              </a:rPr>
              <a:t>Fault Control</a:t>
            </a:r>
          </a:p>
          <a:p>
            <a:pPr marL="571500" indent="-571500">
              <a:buFont typeface="Wingdings" panose="05000000000000000000" pitchFamily="2" charset="2"/>
              <a:buChar char="v"/>
            </a:pPr>
            <a:r>
              <a:rPr lang="en-US" sz="5400" dirty="0">
                <a:latin typeface="Times New Roman" panose="02020603050405020304" pitchFamily="18" charset="0"/>
                <a:cs typeface="Times New Roman" panose="02020603050405020304" pitchFamily="18" charset="0"/>
              </a:rPr>
              <a:t>Bill Report</a:t>
            </a:r>
          </a:p>
          <a:p>
            <a:pPr marL="571500" indent="-571500">
              <a:buFont typeface="Wingdings" panose="05000000000000000000" pitchFamily="2" charset="2"/>
              <a:buChar char="v"/>
            </a:pPr>
            <a:r>
              <a:rPr lang="en-US" sz="5400" dirty="0">
                <a:latin typeface="Times New Roman" panose="02020603050405020304" pitchFamily="18" charset="0"/>
                <a:cs typeface="Times New Roman" panose="02020603050405020304" pitchFamily="18" charset="0"/>
              </a:rPr>
              <a:t>Consumer Status</a:t>
            </a:r>
          </a:p>
          <a:p>
            <a:pPr marL="571500" indent="-571500">
              <a:buFont typeface="Wingdings" panose="05000000000000000000" pitchFamily="2" charset="2"/>
              <a:buChar char="v"/>
            </a:pPr>
            <a:r>
              <a:rPr lang="en-US" sz="5400" dirty="0">
                <a:latin typeface="Times New Roman" panose="02020603050405020304" pitchFamily="18" charset="0"/>
                <a:cs typeface="Times New Roman" panose="02020603050405020304" pitchFamily="18" charset="0"/>
              </a:rPr>
              <a:t>Shutdown</a:t>
            </a:r>
          </a:p>
        </p:txBody>
      </p:sp>
    </p:spTree>
    <p:extLst>
      <p:ext uri="{BB962C8B-B14F-4D97-AF65-F5344CB8AC3E}">
        <p14:creationId xmlns:p14="http://schemas.microsoft.com/office/powerpoint/2010/main" val="1593087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39978" y="1000125"/>
            <a:ext cx="14148022" cy="758521"/>
          </a:xfrm>
          <a:prstGeom prst="rect">
            <a:avLst/>
          </a:prstGeom>
        </p:spPr>
        <p:txBody>
          <a:bodyPr lIns="0" tIns="0" rIns="0" bIns="0" rtlCol="0" anchor="t">
            <a:spAutoFit/>
          </a:bodyPr>
          <a:lstStyle/>
          <a:p>
            <a:pPr algn="l">
              <a:lnSpc>
                <a:spcPts val="5635"/>
              </a:lnSpc>
            </a:pPr>
            <a:r>
              <a:rPr lang="en-US" sz="4695" b="1">
                <a:solidFill>
                  <a:srgbClr val="FF0066"/>
                </a:solidFill>
                <a:latin typeface="Times New Roman Bold"/>
                <a:ea typeface="Times New Roman Bold"/>
                <a:cs typeface="Times New Roman Bold"/>
                <a:sym typeface="Times New Roman Bold"/>
              </a:rPr>
              <a:t>MODULES &amp; ITS DESCRIPTION</a:t>
            </a:r>
          </a:p>
        </p:txBody>
      </p:sp>
      <p:grpSp>
        <p:nvGrpSpPr>
          <p:cNvPr id="3" name="Group 3"/>
          <p:cNvGrpSpPr/>
          <p:nvPr/>
        </p:nvGrpSpPr>
        <p:grpSpPr>
          <a:xfrm>
            <a:off x="510988" y="552888"/>
            <a:ext cx="1581521" cy="1561033"/>
            <a:chOff x="0" y="0"/>
            <a:chExt cx="2108695" cy="2081378"/>
          </a:xfrm>
        </p:grpSpPr>
        <p:sp>
          <p:nvSpPr>
            <p:cNvPr id="4" name="Freeform 4"/>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5" name="Group 5"/>
          <p:cNvGrpSpPr/>
          <p:nvPr/>
        </p:nvGrpSpPr>
        <p:grpSpPr>
          <a:xfrm>
            <a:off x="15458913" y="540525"/>
            <a:ext cx="2108892" cy="1613116"/>
            <a:chOff x="0" y="0"/>
            <a:chExt cx="2811856" cy="2150821"/>
          </a:xfrm>
        </p:grpSpPr>
        <p:sp>
          <p:nvSpPr>
            <p:cNvPr id="6" name="Freeform 6"/>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grpSp>
        <p:nvGrpSpPr>
          <p:cNvPr id="7" name="Group 7"/>
          <p:cNvGrpSpPr/>
          <p:nvPr/>
        </p:nvGrpSpPr>
        <p:grpSpPr>
          <a:xfrm>
            <a:off x="1054446" y="2817566"/>
            <a:ext cx="16513358" cy="6440735"/>
            <a:chOff x="0" y="-279828"/>
            <a:chExt cx="28549777" cy="11135322"/>
          </a:xfrm>
        </p:grpSpPr>
        <p:sp>
          <p:nvSpPr>
            <p:cNvPr id="8" name="Freeform 8"/>
            <p:cNvSpPr/>
            <p:nvPr/>
          </p:nvSpPr>
          <p:spPr>
            <a:xfrm>
              <a:off x="0" y="0"/>
              <a:ext cx="28549777" cy="10855494"/>
            </a:xfrm>
            <a:custGeom>
              <a:avLst/>
              <a:gdLst/>
              <a:ahLst/>
              <a:cxnLst/>
              <a:rect l="l" t="t" r="r" b="b"/>
              <a:pathLst>
                <a:path w="28549777" h="10855494">
                  <a:moveTo>
                    <a:pt x="0" y="0"/>
                  </a:moveTo>
                  <a:lnTo>
                    <a:pt x="28549777" y="0"/>
                  </a:lnTo>
                  <a:lnTo>
                    <a:pt x="28549777" y="10855494"/>
                  </a:lnTo>
                  <a:lnTo>
                    <a:pt x="0" y="10855494"/>
                  </a:lnTo>
                  <a:close/>
                </a:path>
              </a:pathLst>
            </a:custGeom>
            <a:blipFill>
              <a:blip r:embed="rId4">
                <a:alphaModFix amt="0"/>
              </a:blip>
              <a:stretch>
                <a:fillRect l="-16734" r="56514" b="38280"/>
              </a:stretch>
            </a:blipFill>
          </p:spPr>
        </p:sp>
        <p:sp>
          <p:nvSpPr>
            <p:cNvPr id="9" name="TextBox 9"/>
            <p:cNvSpPr txBox="1"/>
            <p:nvPr/>
          </p:nvSpPr>
          <p:spPr>
            <a:xfrm>
              <a:off x="908627" y="-279828"/>
              <a:ext cx="26732524" cy="11007892"/>
            </a:xfrm>
            <a:prstGeom prst="rect">
              <a:avLst/>
            </a:prstGeom>
          </p:spPr>
          <p:txBody>
            <a:bodyPr lIns="0" tIns="0" rIns="0" bIns="0" rtlCol="0" anchor="ctr"/>
            <a:lstStyle/>
            <a:p>
              <a:pPr algn="just">
                <a:lnSpc>
                  <a:spcPts val="5652"/>
                </a:lnSpc>
              </a:pPr>
              <a:r>
                <a:rPr lang="en-US" sz="4000" b="1" dirty="0">
                  <a:solidFill>
                    <a:srgbClr val="000000"/>
                  </a:solidFill>
                  <a:latin typeface="Times New Roman Bold"/>
                  <a:ea typeface="Times New Roman Bold"/>
                  <a:cs typeface="Times New Roman Bold"/>
                  <a:sym typeface="Times New Roman Bold"/>
                </a:rPr>
                <a:t>1.Consumer Module :</a:t>
              </a:r>
            </a:p>
            <a:p>
              <a:pPr algn="just">
                <a:lnSpc>
                  <a:spcPts val="5652"/>
                </a:lnSpc>
              </a:pPr>
              <a:endParaRPr lang="en-US" sz="3600" b="1" dirty="0">
                <a:solidFill>
                  <a:srgbClr val="000000"/>
                </a:solidFill>
                <a:latin typeface="Times New Roman Bold"/>
                <a:ea typeface="Times New Roman Bold"/>
                <a:cs typeface="Times New Roman Bold"/>
                <a:sym typeface="Times New Roman Bold"/>
              </a:endParaRPr>
            </a:p>
            <a:p>
              <a:pPr indent="-131673" algn="just">
                <a:lnSpc>
                  <a:spcPts val="5652"/>
                </a:lnSpc>
              </a:pPr>
              <a:r>
                <a:rPr lang="en-US" sz="4000" dirty="0">
                  <a:latin typeface="Times New Roman" panose="02020603050405020304" pitchFamily="18" charset="0"/>
                  <a:cs typeface="Times New Roman" panose="02020603050405020304" pitchFamily="18" charset="0"/>
                </a:rPr>
                <a:t>The Consumer module is used to register and manage electricity consumer details in the system. It stores information such as Consumer ID, consumer name, location, and energy usage. The records are maintained using a Linked List data structure for efficient data handling and storage. This module helps the operator easily add and display consumer information. It improves the management and monitoring of consumers in the smart power distribution network.</a:t>
              </a:r>
              <a:endParaRPr lang="en-US" sz="4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5F480-274A-3048-8914-2BBA22F2E8B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EE7CB48-84C9-EABF-CDAD-82B9B8A6C056}"/>
              </a:ext>
            </a:extLst>
          </p:cNvPr>
          <p:cNvSpPr txBox="1"/>
          <p:nvPr/>
        </p:nvSpPr>
        <p:spPr>
          <a:xfrm>
            <a:off x="4139978" y="1000125"/>
            <a:ext cx="14148022" cy="758521"/>
          </a:xfrm>
          <a:prstGeom prst="rect">
            <a:avLst/>
          </a:prstGeom>
        </p:spPr>
        <p:txBody>
          <a:bodyPr lIns="0" tIns="0" rIns="0" bIns="0" rtlCol="0" anchor="t">
            <a:spAutoFit/>
          </a:bodyPr>
          <a:lstStyle/>
          <a:p>
            <a:pPr algn="l">
              <a:lnSpc>
                <a:spcPts val="5635"/>
              </a:lnSpc>
            </a:pPr>
            <a:r>
              <a:rPr lang="en-US" sz="4695" b="1">
                <a:solidFill>
                  <a:srgbClr val="FF0066"/>
                </a:solidFill>
                <a:latin typeface="Times New Roman Bold"/>
                <a:ea typeface="Times New Roman Bold"/>
                <a:cs typeface="Times New Roman Bold"/>
                <a:sym typeface="Times New Roman Bold"/>
              </a:rPr>
              <a:t>MODULES &amp; ITS DESCRIPTION</a:t>
            </a:r>
          </a:p>
        </p:txBody>
      </p:sp>
      <p:grpSp>
        <p:nvGrpSpPr>
          <p:cNvPr id="3" name="Group 3">
            <a:extLst>
              <a:ext uri="{FF2B5EF4-FFF2-40B4-BE49-F238E27FC236}">
                <a16:creationId xmlns:a16="http://schemas.microsoft.com/office/drawing/2014/main" id="{80D978B2-0E5B-CA19-A9A3-4AADC4F97B7E}"/>
              </a:ext>
            </a:extLst>
          </p:cNvPr>
          <p:cNvGrpSpPr/>
          <p:nvPr/>
        </p:nvGrpSpPr>
        <p:grpSpPr>
          <a:xfrm>
            <a:off x="510988" y="552888"/>
            <a:ext cx="1581521" cy="1561033"/>
            <a:chOff x="0" y="0"/>
            <a:chExt cx="2108695" cy="2081378"/>
          </a:xfrm>
        </p:grpSpPr>
        <p:sp>
          <p:nvSpPr>
            <p:cNvPr id="4" name="Freeform 4">
              <a:extLst>
                <a:ext uri="{FF2B5EF4-FFF2-40B4-BE49-F238E27FC236}">
                  <a16:creationId xmlns:a16="http://schemas.microsoft.com/office/drawing/2014/main" id="{35FE0712-4268-F002-02FE-40972F69EE1A}"/>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5" name="Group 5">
            <a:extLst>
              <a:ext uri="{FF2B5EF4-FFF2-40B4-BE49-F238E27FC236}">
                <a16:creationId xmlns:a16="http://schemas.microsoft.com/office/drawing/2014/main" id="{9B1E097F-0013-4278-0D9F-9D54E766B2F1}"/>
              </a:ext>
            </a:extLst>
          </p:cNvPr>
          <p:cNvGrpSpPr/>
          <p:nvPr/>
        </p:nvGrpSpPr>
        <p:grpSpPr>
          <a:xfrm>
            <a:off x="15458913" y="540525"/>
            <a:ext cx="2108892" cy="1613116"/>
            <a:chOff x="0" y="0"/>
            <a:chExt cx="2811856" cy="2150821"/>
          </a:xfrm>
        </p:grpSpPr>
        <p:sp>
          <p:nvSpPr>
            <p:cNvPr id="6" name="Freeform 6">
              <a:extLst>
                <a:ext uri="{FF2B5EF4-FFF2-40B4-BE49-F238E27FC236}">
                  <a16:creationId xmlns:a16="http://schemas.microsoft.com/office/drawing/2014/main" id="{AD16C9D8-2D70-5EFB-145D-FEF2431F95F4}"/>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grpSp>
        <p:nvGrpSpPr>
          <p:cNvPr id="7" name="Group 7">
            <a:extLst>
              <a:ext uri="{FF2B5EF4-FFF2-40B4-BE49-F238E27FC236}">
                <a16:creationId xmlns:a16="http://schemas.microsoft.com/office/drawing/2014/main" id="{BF3F390A-00E4-DECC-3F57-29DA81B352B8}"/>
              </a:ext>
            </a:extLst>
          </p:cNvPr>
          <p:cNvGrpSpPr/>
          <p:nvPr/>
        </p:nvGrpSpPr>
        <p:grpSpPr>
          <a:xfrm>
            <a:off x="1054446" y="2296114"/>
            <a:ext cx="16513358" cy="6962187"/>
            <a:chOff x="0" y="-1181361"/>
            <a:chExt cx="28549777" cy="12036855"/>
          </a:xfrm>
        </p:grpSpPr>
        <p:sp>
          <p:nvSpPr>
            <p:cNvPr id="8" name="Freeform 8">
              <a:extLst>
                <a:ext uri="{FF2B5EF4-FFF2-40B4-BE49-F238E27FC236}">
                  <a16:creationId xmlns:a16="http://schemas.microsoft.com/office/drawing/2014/main" id="{DD0CCB85-13B8-C983-FFF2-C1F7360D0F08}"/>
                </a:ext>
              </a:extLst>
            </p:cNvPr>
            <p:cNvSpPr/>
            <p:nvPr/>
          </p:nvSpPr>
          <p:spPr>
            <a:xfrm>
              <a:off x="0" y="0"/>
              <a:ext cx="28549777" cy="10855494"/>
            </a:xfrm>
            <a:custGeom>
              <a:avLst/>
              <a:gdLst/>
              <a:ahLst/>
              <a:cxnLst/>
              <a:rect l="l" t="t" r="r" b="b"/>
              <a:pathLst>
                <a:path w="28549777" h="10855494">
                  <a:moveTo>
                    <a:pt x="0" y="0"/>
                  </a:moveTo>
                  <a:lnTo>
                    <a:pt x="28549777" y="0"/>
                  </a:lnTo>
                  <a:lnTo>
                    <a:pt x="28549777" y="10855494"/>
                  </a:lnTo>
                  <a:lnTo>
                    <a:pt x="0" y="10855494"/>
                  </a:lnTo>
                  <a:close/>
                </a:path>
              </a:pathLst>
            </a:custGeom>
            <a:blipFill>
              <a:blip r:embed="rId4">
                <a:alphaModFix amt="0"/>
              </a:blip>
              <a:stretch>
                <a:fillRect l="-16734" r="56514" b="38280"/>
              </a:stretch>
            </a:blipFill>
          </p:spPr>
        </p:sp>
        <p:sp>
          <p:nvSpPr>
            <p:cNvPr id="9" name="TextBox 9">
              <a:extLst>
                <a:ext uri="{FF2B5EF4-FFF2-40B4-BE49-F238E27FC236}">
                  <a16:creationId xmlns:a16="http://schemas.microsoft.com/office/drawing/2014/main" id="{3D3D43EC-3AAD-4C39-2AB7-E2C874AF0F90}"/>
                </a:ext>
              </a:extLst>
            </p:cNvPr>
            <p:cNvSpPr txBox="1"/>
            <p:nvPr/>
          </p:nvSpPr>
          <p:spPr>
            <a:xfrm>
              <a:off x="427567" y="-1181361"/>
              <a:ext cx="26732523" cy="11007892"/>
            </a:xfrm>
            <a:prstGeom prst="rect">
              <a:avLst/>
            </a:prstGeom>
          </p:spPr>
          <p:txBody>
            <a:bodyPr lIns="0" tIns="0" rIns="0" bIns="0" rtlCol="0" anchor="ctr"/>
            <a:lstStyle/>
            <a:p>
              <a:pPr algn="just">
                <a:lnSpc>
                  <a:spcPts val="5652"/>
                </a:lnSpc>
              </a:pP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2.</a:t>
              </a:r>
              <a:r>
                <a:rPr lang="en-IN" sz="4000"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Power Station Details </a:t>
              </a: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Module :</a:t>
              </a:r>
            </a:p>
            <a:p>
              <a:pPr algn="just">
                <a:lnSpc>
                  <a:spcPts val="5652"/>
                </a:lnSpc>
              </a:pPr>
              <a:endParaRPr lang="en-US" sz="36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indent="-131673" algn="just">
                <a:lnSpc>
                  <a:spcPts val="5652"/>
                </a:lnSpc>
              </a:pPr>
              <a:r>
                <a:rPr lang="en-US" sz="4000" dirty="0">
                  <a:latin typeface="Times New Roman" panose="02020603050405020304" pitchFamily="18" charset="0"/>
                  <a:cs typeface="Times New Roman" panose="02020603050405020304" pitchFamily="18" charset="0"/>
                </a:rPr>
                <a:t>The Power Station Details module displays the current status of the power station and substations. It provides information such as station name, active substations, and load condition. This module helps monitor the overall performance of the power distribution system. It ensures that the electricity supply is operating normally without interruptions. The module acts as the control center of the smart grid system.</a:t>
              </a:r>
              <a:endParaRPr lang="en-US" sz="4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grpSp>
    </p:spTree>
    <p:extLst>
      <p:ext uri="{BB962C8B-B14F-4D97-AF65-F5344CB8AC3E}">
        <p14:creationId xmlns:p14="http://schemas.microsoft.com/office/powerpoint/2010/main" val="3803833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E1FF3-4963-A1D7-822A-BB18EAEF1F7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783828A-3360-4CE3-4DA1-33E4E0629463}"/>
              </a:ext>
            </a:extLst>
          </p:cNvPr>
          <p:cNvSpPr txBox="1"/>
          <p:nvPr/>
        </p:nvSpPr>
        <p:spPr>
          <a:xfrm>
            <a:off x="4139978" y="1000125"/>
            <a:ext cx="14148022" cy="758521"/>
          </a:xfrm>
          <a:prstGeom prst="rect">
            <a:avLst/>
          </a:prstGeom>
        </p:spPr>
        <p:txBody>
          <a:bodyPr lIns="0" tIns="0" rIns="0" bIns="0" rtlCol="0" anchor="t">
            <a:spAutoFit/>
          </a:bodyPr>
          <a:lstStyle/>
          <a:p>
            <a:pPr algn="l">
              <a:lnSpc>
                <a:spcPts val="5635"/>
              </a:lnSpc>
            </a:pPr>
            <a:r>
              <a:rPr lang="en-US" sz="4695" b="1">
                <a:solidFill>
                  <a:srgbClr val="FF0066"/>
                </a:solidFill>
                <a:latin typeface="Times New Roman Bold"/>
                <a:ea typeface="Times New Roman Bold"/>
                <a:cs typeface="Times New Roman Bold"/>
                <a:sym typeface="Times New Roman Bold"/>
              </a:rPr>
              <a:t>MODULES &amp; ITS DESCRIPTION</a:t>
            </a:r>
          </a:p>
        </p:txBody>
      </p:sp>
      <p:grpSp>
        <p:nvGrpSpPr>
          <p:cNvPr id="3" name="Group 3">
            <a:extLst>
              <a:ext uri="{FF2B5EF4-FFF2-40B4-BE49-F238E27FC236}">
                <a16:creationId xmlns:a16="http://schemas.microsoft.com/office/drawing/2014/main" id="{70A6BF08-2361-DFC1-314B-CD25CD2832EC}"/>
              </a:ext>
            </a:extLst>
          </p:cNvPr>
          <p:cNvGrpSpPr/>
          <p:nvPr/>
        </p:nvGrpSpPr>
        <p:grpSpPr>
          <a:xfrm>
            <a:off x="510988" y="552888"/>
            <a:ext cx="1581521" cy="1561033"/>
            <a:chOff x="0" y="0"/>
            <a:chExt cx="2108695" cy="2081378"/>
          </a:xfrm>
        </p:grpSpPr>
        <p:sp>
          <p:nvSpPr>
            <p:cNvPr id="4" name="Freeform 4">
              <a:extLst>
                <a:ext uri="{FF2B5EF4-FFF2-40B4-BE49-F238E27FC236}">
                  <a16:creationId xmlns:a16="http://schemas.microsoft.com/office/drawing/2014/main" id="{89E841A4-68B1-09BA-6177-6167E0CBFFC0}"/>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5" name="Group 5">
            <a:extLst>
              <a:ext uri="{FF2B5EF4-FFF2-40B4-BE49-F238E27FC236}">
                <a16:creationId xmlns:a16="http://schemas.microsoft.com/office/drawing/2014/main" id="{221FFE70-01E7-C162-D132-183E4672F29B}"/>
              </a:ext>
            </a:extLst>
          </p:cNvPr>
          <p:cNvGrpSpPr/>
          <p:nvPr/>
        </p:nvGrpSpPr>
        <p:grpSpPr>
          <a:xfrm>
            <a:off x="15458913" y="540525"/>
            <a:ext cx="2108892" cy="1613116"/>
            <a:chOff x="0" y="0"/>
            <a:chExt cx="2811856" cy="2150821"/>
          </a:xfrm>
        </p:grpSpPr>
        <p:sp>
          <p:nvSpPr>
            <p:cNvPr id="6" name="Freeform 6">
              <a:extLst>
                <a:ext uri="{FF2B5EF4-FFF2-40B4-BE49-F238E27FC236}">
                  <a16:creationId xmlns:a16="http://schemas.microsoft.com/office/drawing/2014/main" id="{954A9B10-C2BA-7192-6478-5E4ACD470B1D}"/>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grpSp>
        <p:nvGrpSpPr>
          <p:cNvPr id="7" name="Group 7">
            <a:extLst>
              <a:ext uri="{FF2B5EF4-FFF2-40B4-BE49-F238E27FC236}">
                <a16:creationId xmlns:a16="http://schemas.microsoft.com/office/drawing/2014/main" id="{FF4F64A0-4805-20DB-F473-080F89A52E01}"/>
              </a:ext>
            </a:extLst>
          </p:cNvPr>
          <p:cNvGrpSpPr/>
          <p:nvPr/>
        </p:nvGrpSpPr>
        <p:grpSpPr>
          <a:xfrm>
            <a:off x="1054446" y="2296114"/>
            <a:ext cx="16513358" cy="6962187"/>
            <a:chOff x="0" y="-1181361"/>
            <a:chExt cx="28549777" cy="12036855"/>
          </a:xfrm>
        </p:grpSpPr>
        <p:sp>
          <p:nvSpPr>
            <p:cNvPr id="8" name="Freeform 8">
              <a:extLst>
                <a:ext uri="{FF2B5EF4-FFF2-40B4-BE49-F238E27FC236}">
                  <a16:creationId xmlns:a16="http://schemas.microsoft.com/office/drawing/2014/main" id="{D2FC9E21-1313-3588-6A11-3D43F899FFAA}"/>
                </a:ext>
              </a:extLst>
            </p:cNvPr>
            <p:cNvSpPr/>
            <p:nvPr/>
          </p:nvSpPr>
          <p:spPr>
            <a:xfrm>
              <a:off x="0" y="0"/>
              <a:ext cx="28549777" cy="10855494"/>
            </a:xfrm>
            <a:custGeom>
              <a:avLst/>
              <a:gdLst/>
              <a:ahLst/>
              <a:cxnLst/>
              <a:rect l="l" t="t" r="r" b="b"/>
              <a:pathLst>
                <a:path w="28549777" h="10855494">
                  <a:moveTo>
                    <a:pt x="0" y="0"/>
                  </a:moveTo>
                  <a:lnTo>
                    <a:pt x="28549777" y="0"/>
                  </a:lnTo>
                  <a:lnTo>
                    <a:pt x="28549777" y="10855494"/>
                  </a:lnTo>
                  <a:lnTo>
                    <a:pt x="0" y="10855494"/>
                  </a:lnTo>
                  <a:close/>
                </a:path>
              </a:pathLst>
            </a:custGeom>
            <a:blipFill>
              <a:blip r:embed="rId4">
                <a:alphaModFix amt="0"/>
              </a:blip>
              <a:stretch>
                <a:fillRect l="-16734" r="56514" b="38280"/>
              </a:stretch>
            </a:blipFill>
          </p:spPr>
        </p:sp>
        <p:sp>
          <p:nvSpPr>
            <p:cNvPr id="9" name="TextBox 9">
              <a:extLst>
                <a:ext uri="{FF2B5EF4-FFF2-40B4-BE49-F238E27FC236}">
                  <a16:creationId xmlns:a16="http://schemas.microsoft.com/office/drawing/2014/main" id="{7FE213C2-1F12-75C1-A422-E038B2DF6858}"/>
                </a:ext>
              </a:extLst>
            </p:cNvPr>
            <p:cNvSpPr txBox="1"/>
            <p:nvPr/>
          </p:nvSpPr>
          <p:spPr>
            <a:xfrm>
              <a:off x="427567" y="-1181361"/>
              <a:ext cx="26732523" cy="11007892"/>
            </a:xfrm>
            <a:prstGeom prst="rect">
              <a:avLst/>
            </a:prstGeom>
          </p:spPr>
          <p:txBody>
            <a:bodyPr lIns="0" tIns="0" rIns="0" bIns="0" rtlCol="0" anchor="ctr"/>
            <a:lstStyle/>
            <a:p>
              <a:pPr algn="just">
                <a:lnSpc>
                  <a:spcPts val="5652"/>
                </a:lnSpc>
              </a:pP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3.</a:t>
              </a:r>
              <a:r>
                <a:rPr lang="en-IN" sz="4000"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Load Checking </a:t>
              </a: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Module :</a:t>
              </a:r>
            </a:p>
            <a:p>
              <a:pPr algn="just">
                <a:lnSpc>
                  <a:spcPts val="5652"/>
                </a:lnSpc>
              </a:pPr>
              <a:endPar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just">
                <a:lnSpc>
                  <a:spcPts val="5652"/>
                </a:lnSpc>
              </a:pPr>
              <a:r>
                <a:rPr lang="en-US" sz="4000" dirty="0">
                  <a:latin typeface="Times New Roman" panose="02020603050405020304" pitchFamily="18" charset="0"/>
                  <a:cs typeface="Times New Roman" panose="02020603050405020304" pitchFamily="18" charset="0"/>
                </a:rPr>
                <a:t>The Load Checking module is used to monitor and calculate the total electrical load consumed by consumers. It calculates the total load demand and average power usage in the network. This module helps identify overload conditions and maintain balanced power distribution. It improves the efficiency and stability of the smart power grid. Proper load checking helps avoid power failures and system overloads.</a:t>
              </a:r>
              <a:endParaRPr lang="en-US" sz="4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grpSp>
    </p:spTree>
    <p:extLst>
      <p:ext uri="{BB962C8B-B14F-4D97-AF65-F5344CB8AC3E}">
        <p14:creationId xmlns:p14="http://schemas.microsoft.com/office/powerpoint/2010/main" val="4112196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71ED2-DF3E-AB2B-4805-C83EEAAAA3C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13B03AE-DF84-B51B-53F1-6E68271DD637}"/>
              </a:ext>
            </a:extLst>
          </p:cNvPr>
          <p:cNvSpPr txBox="1"/>
          <p:nvPr/>
        </p:nvSpPr>
        <p:spPr>
          <a:xfrm>
            <a:off x="4139978" y="1000125"/>
            <a:ext cx="14148022" cy="758521"/>
          </a:xfrm>
          <a:prstGeom prst="rect">
            <a:avLst/>
          </a:prstGeom>
        </p:spPr>
        <p:txBody>
          <a:bodyPr lIns="0" tIns="0" rIns="0" bIns="0" rtlCol="0" anchor="t">
            <a:spAutoFit/>
          </a:bodyPr>
          <a:lstStyle/>
          <a:p>
            <a:pPr algn="l">
              <a:lnSpc>
                <a:spcPts val="5635"/>
              </a:lnSpc>
            </a:pPr>
            <a:r>
              <a:rPr lang="en-US" sz="4695" b="1">
                <a:solidFill>
                  <a:srgbClr val="FF0066"/>
                </a:solidFill>
                <a:latin typeface="Times New Roman Bold"/>
                <a:ea typeface="Times New Roman Bold"/>
                <a:cs typeface="Times New Roman Bold"/>
                <a:sym typeface="Times New Roman Bold"/>
              </a:rPr>
              <a:t>MODULES &amp; ITS DESCRIPTION</a:t>
            </a:r>
          </a:p>
        </p:txBody>
      </p:sp>
      <p:grpSp>
        <p:nvGrpSpPr>
          <p:cNvPr id="3" name="Group 3">
            <a:extLst>
              <a:ext uri="{FF2B5EF4-FFF2-40B4-BE49-F238E27FC236}">
                <a16:creationId xmlns:a16="http://schemas.microsoft.com/office/drawing/2014/main" id="{7D22D02D-90B3-F935-273E-ED64039162AB}"/>
              </a:ext>
            </a:extLst>
          </p:cNvPr>
          <p:cNvGrpSpPr/>
          <p:nvPr/>
        </p:nvGrpSpPr>
        <p:grpSpPr>
          <a:xfrm>
            <a:off x="510988" y="552888"/>
            <a:ext cx="1581521" cy="1561033"/>
            <a:chOff x="0" y="0"/>
            <a:chExt cx="2108695" cy="2081378"/>
          </a:xfrm>
        </p:grpSpPr>
        <p:sp>
          <p:nvSpPr>
            <p:cNvPr id="4" name="Freeform 4">
              <a:extLst>
                <a:ext uri="{FF2B5EF4-FFF2-40B4-BE49-F238E27FC236}">
                  <a16:creationId xmlns:a16="http://schemas.microsoft.com/office/drawing/2014/main" id="{895EE5F8-D28B-0796-E27B-65A82FB3FA9C}"/>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5" name="Group 5">
            <a:extLst>
              <a:ext uri="{FF2B5EF4-FFF2-40B4-BE49-F238E27FC236}">
                <a16:creationId xmlns:a16="http://schemas.microsoft.com/office/drawing/2014/main" id="{77EDACB1-5444-B31A-ACF8-DB1E30F64D43}"/>
              </a:ext>
            </a:extLst>
          </p:cNvPr>
          <p:cNvGrpSpPr/>
          <p:nvPr/>
        </p:nvGrpSpPr>
        <p:grpSpPr>
          <a:xfrm>
            <a:off x="15458913" y="540525"/>
            <a:ext cx="2108892" cy="1613116"/>
            <a:chOff x="0" y="0"/>
            <a:chExt cx="2811856" cy="2150821"/>
          </a:xfrm>
        </p:grpSpPr>
        <p:sp>
          <p:nvSpPr>
            <p:cNvPr id="6" name="Freeform 6">
              <a:extLst>
                <a:ext uri="{FF2B5EF4-FFF2-40B4-BE49-F238E27FC236}">
                  <a16:creationId xmlns:a16="http://schemas.microsoft.com/office/drawing/2014/main" id="{D2F8884D-AF2E-0AE3-3D0B-C0FB088933B2}"/>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grpSp>
        <p:nvGrpSpPr>
          <p:cNvPr id="7" name="Group 7">
            <a:extLst>
              <a:ext uri="{FF2B5EF4-FFF2-40B4-BE49-F238E27FC236}">
                <a16:creationId xmlns:a16="http://schemas.microsoft.com/office/drawing/2014/main" id="{D221CC81-7F5F-B18F-8559-03703CFE1C76}"/>
              </a:ext>
            </a:extLst>
          </p:cNvPr>
          <p:cNvGrpSpPr/>
          <p:nvPr/>
        </p:nvGrpSpPr>
        <p:grpSpPr>
          <a:xfrm>
            <a:off x="1054446" y="2296114"/>
            <a:ext cx="16513358" cy="6962187"/>
            <a:chOff x="0" y="-1181361"/>
            <a:chExt cx="28549777" cy="12036855"/>
          </a:xfrm>
        </p:grpSpPr>
        <p:sp>
          <p:nvSpPr>
            <p:cNvPr id="8" name="Freeform 8">
              <a:extLst>
                <a:ext uri="{FF2B5EF4-FFF2-40B4-BE49-F238E27FC236}">
                  <a16:creationId xmlns:a16="http://schemas.microsoft.com/office/drawing/2014/main" id="{856FB623-A4AA-9D2A-EBAE-3F03D1930EC2}"/>
                </a:ext>
              </a:extLst>
            </p:cNvPr>
            <p:cNvSpPr/>
            <p:nvPr/>
          </p:nvSpPr>
          <p:spPr>
            <a:xfrm>
              <a:off x="0" y="0"/>
              <a:ext cx="28549777" cy="10855494"/>
            </a:xfrm>
            <a:custGeom>
              <a:avLst/>
              <a:gdLst/>
              <a:ahLst/>
              <a:cxnLst/>
              <a:rect l="l" t="t" r="r" b="b"/>
              <a:pathLst>
                <a:path w="28549777" h="10855494">
                  <a:moveTo>
                    <a:pt x="0" y="0"/>
                  </a:moveTo>
                  <a:lnTo>
                    <a:pt x="28549777" y="0"/>
                  </a:lnTo>
                  <a:lnTo>
                    <a:pt x="28549777" y="10855494"/>
                  </a:lnTo>
                  <a:lnTo>
                    <a:pt x="0" y="10855494"/>
                  </a:lnTo>
                  <a:close/>
                </a:path>
              </a:pathLst>
            </a:custGeom>
            <a:blipFill>
              <a:blip r:embed="rId4">
                <a:alphaModFix amt="0"/>
              </a:blip>
              <a:stretch>
                <a:fillRect l="-16734" r="56514" b="38280"/>
              </a:stretch>
            </a:blipFill>
          </p:spPr>
        </p:sp>
        <p:sp>
          <p:nvSpPr>
            <p:cNvPr id="9" name="TextBox 9">
              <a:extLst>
                <a:ext uri="{FF2B5EF4-FFF2-40B4-BE49-F238E27FC236}">
                  <a16:creationId xmlns:a16="http://schemas.microsoft.com/office/drawing/2014/main" id="{B421CD2F-25EF-0FCC-84C7-4B4933902103}"/>
                </a:ext>
              </a:extLst>
            </p:cNvPr>
            <p:cNvSpPr txBox="1"/>
            <p:nvPr/>
          </p:nvSpPr>
          <p:spPr>
            <a:xfrm>
              <a:off x="427567" y="-1181361"/>
              <a:ext cx="26732523" cy="11007892"/>
            </a:xfrm>
            <a:prstGeom prst="rect">
              <a:avLst/>
            </a:prstGeom>
          </p:spPr>
          <p:txBody>
            <a:bodyPr lIns="0" tIns="0" rIns="0" bIns="0" rtlCol="0" anchor="ctr"/>
            <a:lstStyle/>
            <a:p>
              <a:pPr algn="just">
                <a:lnSpc>
                  <a:spcPts val="5652"/>
                </a:lnSpc>
              </a:pP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4.</a:t>
              </a:r>
              <a:r>
                <a:rPr lang="en-IN" sz="4000"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Fault Control </a:t>
              </a: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Module :</a:t>
              </a:r>
            </a:p>
            <a:p>
              <a:pPr algn="just">
                <a:lnSpc>
                  <a:spcPts val="5652"/>
                </a:lnSpc>
              </a:pPr>
              <a:endPar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just">
                <a:lnSpc>
                  <a:spcPts val="5652"/>
                </a:lnSpc>
              </a:pPr>
              <a:r>
                <a:rPr lang="en-US" sz="4000" dirty="0">
                  <a:latin typeface="Times New Roman" panose="02020603050405020304" pitchFamily="18" charset="0"/>
                  <a:cs typeface="Times New Roman" panose="02020603050405020304" pitchFamily="18" charset="0"/>
                </a:rPr>
                <a:t>The Fault Control module is responsible for handling and managing power faults in the distribution system. Fault requests are stored in a Queue data structure and processed in FIFO order. This module helps quickly detect and resolve faults in the power line. After fault resolution, the system restores the electricity supply successfully. It improves reliability and reduces downtime in the smart grid network.</a:t>
              </a:r>
              <a:endParaRPr lang="en-US" sz="4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grpSp>
    </p:spTree>
    <p:extLst>
      <p:ext uri="{BB962C8B-B14F-4D97-AF65-F5344CB8AC3E}">
        <p14:creationId xmlns:p14="http://schemas.microsoft.com/office/powerpoint/2010/main" val="325272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3B4DC-3819-18F3-9784-320F71922D7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126E697-A933-FD30-604F-12DD7E53D527}"/>
              </a:ext>
            </a:extLst>
          </p:cNvPr>
          <p:cNvSpPr txBox="1"/>
          <p:nvPr/>
        </p:nvSpPr>
        <p:spPr>
          <a:xfrm>
            <a:off x="4139978" y="1000125"/>
            <a:ext cx="14148022" cy="758521"/>
          </a:xfrm>
          <a:prstGeom prst="rect">
            <a:avLst/>
          </a:prstGeom>
        </p:spPr>
        <p:txBody>
          <a:bodyPr lIns="0" tIns="0" rIns="0" bIns="0" rtlCol="0" anchor="t">
            <a:spAutoFit/>
          </a:bodyPr>
          <a:lstStyle/>
          <a:p>
            <a:pPr algn="l">
              <a:lnSpc>
                <a:spcPts val="5635"/>
              </a:lnSpc>
            </a:pPr>
            <a:r>
              <a:rPr lang="en-US" sz="4695" b="1">
                <a:solidFill>
                  <a:srgbClr val="FF0066"/>
                </a:solidFill>
                <a:latin typeface="Times New Roman Bold"/>
                <a:ea typeface="Times New Roman Bold"/>
                <a:cs typeface="Times New Roman Bold"/>
                <a:sym typeface="Times New Roman Bold"/>
              </a:rPr>
              <a:t>MODULES &amp; ITS DESCRIPTION</a:t>
            </a:r>
          </a:p>
        </p:txBody>
      </p:sp>
      <p:grpSp>
        <p:nvGrpSpPr>
          <p:cNvPr id="3" name="Group 3">
            <a:extLst>
              <a:ext uri="{FF2B5EF4-FFF2-40B4-BE49-F238E27FC236}">
                <a16:creationId xmlns:a16="http://schemas.microsoft.com/office/drawing/2014/main" id="{1B32CC3F-C5CA-0A3E-478F-5FB4E45B4BEA}"/>
              </a:ext>
            </a:extLst>
          </p:cNvPr>
          <p:cNvGrpSpPr/>
          <p:nvPr/>
        </p:nvGrpSpPr>
        <p:grpSpPr>
          <a:xfrm>
            <a:off x="510988" y="552888"/>
            <a:ext cx="1581521" cy="1561033"/>
            <a:chOff x="0" y="0"/>
            <a:chExt cx="2108695" cy="2081378"/>
          </a:xfrm>
        </p:grpSpPr>
        <p:sp>
          <p:nvSpPr>
            <p:cNvPr id="4" name="Freeform 4">
              <a:extLst>
                <a:ext uri="{FF2B5EF4-FFF2-40B4-BE49-F238E27FC236}">
                  <a16:creationId xmlns:a16="http://schemas.microsoft.com/office/drawing/2014/main" id="{9638FB0D-5416-96DE-08CF-6F8D93402C0F}"/>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5" name="Group 5">
            <a:extLst>
              <a:ext uri="{FF2B5EF4-FFF2-40B4-BE49-F238E27FC236}">
                <a16:creationId xmlns:a16="http://schemas.microsoft.com/office/drawing/2014/main" id="{7FD61EE3-646C-ED69-39C6-FD58134DA666}"/>
              </a:ext>
            </a:extLst>
          </p:cNvPr>
          <p:cNvGrpSpPr/>
          <p:nvPr/>
        </p:nvGrpSpPr>
        <p:grpSpPr>
          <a:xfrm>
            <a:off x="15458913" y="540525"/>
            <a:ext cx="2108892" cy="1613116"/>
            <a:chOff x="0" y="0"/>
            <a:chExt cx="2811856" cy="2150821"/>
          </a:xfrm>
        </p:grpSpPr>
        <p:sp>
          <p:nvSpPr>
            <p:cNvPr id="6" name="Freeform 6">
              <a:extLst>
                <a:ext uri="{FF2B5EF4-FFF2-40B4-BE49-F238E27FC236}">
                  <a16:creationId xmlns:a16="http://schemas.microsoft.com/office/drawing/2014/main" id="{E69C6CBC-E44F-78A0-0C27-FEFFF6C3099B}"/>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grpSp>
        <p:nvGrpSpPr>
          <p:cNvPr id="7" name="Group 7">
            <a:extLst>
              <a:ext uri="{FF2B5EF4-FFF2-40B4-BE49-F238E27FC236}">
                <a16:creationId xmlns:a16="http://schemas.microsoft.com/office/drawing/2014/main" id="{6A84EDFF-30DE-3CB8-D400-B8024DD35858}"/>
              </a:ext>
            </a:extLst>
          </p:cNvPr>
          <p:cNvGrpSpPr/>
          <p:nvPr/>
        </p:nvGrpSpPr>
        <p:grpSpPr>
          <a:xfrm>
            <a:off x="1054446" y="2296114"/>
            <a:ext cx="16513358" cy="6962187"/>
            <a:chOff x="0" y="-1181361"/>
            <a:chExt cx="28549777" cy="12036855"/>
          </a:xfrm>
        </p:grpSpPr>
        <p:sp>
          <p:nvSpPr>
            <p:cNvPr id="8" name="Freeform 8">
              <a:extLst>
                <a:ext uri="{FF2B5EF4-FFF2-40B4-BE49-F238E27FC236}">
                  <a16:creationId xmlns:a16="http://schemas.microsoft.com/office/drawing/2014/main" id="{8EC88C63-7C6F-0D3C-D1AB-2A8688426889}"/>
                </a:ext>
              </a:extLst>
            </p:cNvPr>
            <p:cNvSpPr/>
            <p:nvPr/>
          </p:nvSpPr>
          <p:spPr>
            <a:xfrm>
              <a:off x="0" y="0"/>
              <a:ext cx="28549777" cy="10855494"/>
            </a:xfrm>
            <a:custGeom>
              <a:avLst/>
              <a:gdLst/>
              <a:ahLst/>
              <a:cxnLst/>
              <a:rect l="l" t="t" r="r" b="b"/>
              <a:pathLst>
                <a:path w="28549777" h="10855494">
                  <a:moveTo>
                    <a:pt x="0" y="0"/>
                  </a:moveTo>
                  <a:lnTo>
                    <a:pt x="28549777" y="0"/>
                  </a:lnTo>
                  <a:lnTo>
                    <a:pt x="28549777" y="10855494"/>
                  </a:lnTo>
                  <a:lnTo>
                    <a:pt x="0" y="10855494"/>
                  </a:lnTo>
                  <a:close/>
                </a:path>
              </a:pathLst>
            </a:custGeom>
            <a:blipFill>
              <a:blip r:embed="rId4">
                <a:alphaModFix amt="0"/>
              </a:blip>
              <a:stretch>
                <a:fillRect l="-16734" r="56514" b="38280"/>
              </a:stretch>
            </a:blipFill>
          </p:spPr>
        </p:sp>
        <p:sp>
          <p:nvSpPr>
            <p:cNvPr id="9" name="TextBox 9">
              <a:extLst>
                <a:ext uri="{FF2B5EF4-FFF2-40B4-BE49-F238E27FC236}">
                  <a16:creationId xmlns:a16="http://schemas.microsoft.com/office/drawing/2014/main" id="{B332E0FB-2E51-DFB8-0442-A0A5210212A6}"/>
                </a:ext>
              </a:extLst>
            </p:cNvPr>
            <p:cNvSpPr txBox="1"/>
            <p:nvPr/>
          </p:nvSpPr>
          <p:spPr>
            <a:xfrm>
              <a:off x="427567" y="-1181361"/>
              <a:ext cx="26732523" cy="11007892"/>
            </a:xfrm>
            <a:prstGeom prst="rect">
              <a:avLst/>
            </a:prstGeom>
          </p:spPr>
          <p:txBody>
            <a:bodyPr lIns="0" tIns="0" rIns="0" bIns="0" rtlCol="0" anchor="ctr"/>
            <a:lstStyle/>
            <a:p>
              <a:pPr algn="just">
                <a:lnSpc>
                  <a:spcPts val="5652"/>
                </a:lnSpc>
              </a:pP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5.</a:t>
              </a:r>
              <a:r>
                <a:rPr lang="en-IN" sz="4000"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Bill Report </a:t>
              </a: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Module :</a:t>
              </a:r>
            </a:p>
            <a:p>
              <a:pPr algn="just">
                <a:lnSpc>
                  <a:spcPts val="5652"/>
                </a:lnSpc>
              </a:pPr>
              <a:endPar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just">
                <a:lnSpc>
                  <a:spcPts val="5652"/>
                </a:lnSpc>
              </a:pPr>
              <a:r>
                <a:rPr lang="en-US" sz="4000" dirty="0">
                  <a:latin typeface="Times New Roman" panose="02020603050405020304" pitchFamily="18" charset="0"/>
                  <a:cs typeface="Times New Roman" panose="02020603050405020304" pitchFamily="18" charset="0"/>
                </a:rPr>
                <a:t>The Fault Control module is responsible for handling and managing power faults in the distribution system. Fault requests are stored in a Queue data structure and processed in FIFO order. This module helps quickly detect and resolve faults in the power line. After fault resolution, the system restores the electricity supply successfully. It improves reliability and reduces downtime in the smart grid network.</a:t>
              </a:r>
              <a:endParaRPr lang="en-US" sz="4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grpSp>
    </p:spTree>
    <p:extLst>
      <p:ext uri="{BB962C8B-B14F-4D97-AF65-F5344CB8AC3E}">
        <p14:creationId xmlns:p14="http://schemas.microsoft.com/office/powerpoint/2010/main" val="887838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C84CB-B80E-E141-BAC5-BC007E897C9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A06A50D-C72B-7883-7633-68E00A874978}"/>
              </a:ext>
            </a:extLst>
          </p:cNvPr>
          <p:cNvSpPr txBox="1"/>
          <p:nvPr/>
        </p:nvSpPr>
        <p:spPr>
          <a:xfrm>
            <a:off x="4139978" y="1000125"/>
            <a:ext cx="14148022" cy="758521"/>
          </a:xfrm>
          <a:prstGeom prst="rect">
            <a:avLst/>
          </a:prstGeom>
        </p:spPr>
        <p:txBody>
          <a:bodyPr lIns="0" tIns="0" rIns="0" bIns="0" rtlCol="0" anchor="t">
            <a:spAutoFit/>
          </a:bodyPr>
          <a:lstStyle/>
          <a:p>
            <a:pPr algn="l">
              <a:lnSpc>
                <a:spcPts val="5635"/>
              </a:lnSpc>
            </a:pPr>
            <a:r>
              <a:rPr lang="en-US" sz="4695" b="1">
                <a:solidFill>
                  <a:srgbClr val="FF0066"/>
                </a:solidFill>
                <a:latin typeface="Times New Roman Bold"/>
                <a:ea typeface="Times New Roman Bold"/>
                <a:cs typeface="Times New Roman Bold"/>
                <a:sym typeface="Times New Roman Bold"/>
              </a:rPr>
              <a:t>MODULES &amp; ITS DESCRIPTION</a:t>
            </a:r>
          </a:p>
        </p:txBody>
      </p:sp>
      <p:grpSp>
        <p:nvGrpSpPr>
          <p:cNvPr id="3" name="Group 3">
            <a:extLst>
              <a:ext uri="{FF2B5EF4-FFF2-40B4-BE49-F238E27FC236}">
                <a16:creationId xmlns:a16="http://schemas.microsoft.com/office/drawing/2014/main" id="{1206FFC3-34D2-66F0-2585-DA2B793BC370}"/>
              </a:ext>
            </a:extLst>
          </p:cNvPr>
          <p:cNvGrpSpPr/>
          <p:nvPr/>
        </p:nvGrpSpPr>
        <p:grpSpPr>
          <a:xfrm>
            <a:off x="510988" y="552888"/>
            <a:ext cx="1581521" cy="1561033"/>
            <a:chOff x="0" y="0"/>
            <a:chExt cx="2108695" cy="2081378"/>
          </a:xfrm>
        </p:grpSpPr>
        <p:sp>
          <p:nvSpPr>
            <p:cNvPr id="4" name="Freeform 4">
              <a:extLst>
                <a:ext uri="{FF2B5EF4-FFF2-40B4-BE49-F238E27FC236}">
                  <a16:creationId xmlns:a16="http://schemas.microsoft.com/office/drawing/2014/main" id="{45B16348-2B89-0F1A-1EB5-23A94C85C929}"/>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5" name="Group 5">
            <a:extLst>
              <a:ext uri="{FF2B5EF4-FFF2-40B4-BE49-F238E27FC236}">
                <a16:creationId xmlns:a16="http://schemas.microsoft.com/office/drawing/2014/main" id="{A2D1EC9E-B673-A485-B8CD-7A098E510BF9}"/>
              </a:ext>
            </a:extLst>
          </p:cNvPr>
          <p:cNvGrpSpPr/>
          <p:nvPr/>
        </p:nvGrpSpPr>
        <p:grpSpPr>
          <a:xfrm>
            <a:off x="15458913" y="540525"/>
            <a:ext cx="2108892" cy="1613116"/>
            <a:chOff x="0" y="0"/>
            <a:chExt cx="2811856" cy="2150821"/>
          </a:xfrm>
        </p:grpSpPr>
        <p:sp>
          <p:nvSpPr>
            <p:cNvPr id="6" name="Freeform 6">
              <a:extLst>
                <a:ext uri="{FF2B5EF4-FFF2-40B4-BE49-F238E27FC236}">
                  <a16:creationId xmlns:a16="http://schemas.microsoft.com/office/drawing/2014/main" id="{21F059A5-AA1A-3415-3CB6-20783C34B1F0}"/>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grpSp>
        <p:nvGrpSpPr>
          <p:cNvPr id="7" name="Group 7">
            <a:extLst>
              <a:ext uri="{FF2B5EF4-FFF2-40B4-BE49-F238E27FC236}">
                <a16:creationId xmlns:a16="http://schemas.microsoft.com/office/drawing/2014/main" id="{581E6FD9-0191-6F5C-3E95-B9D3B35F42C2}"/>
              </a:ext>
            </a:extLst>
          </p:cNvPr>
          <p:cNvGrpSpPr/>
          <p:nvPr/>
        </p:nvGrpSpPr>
        <p:grpSpPr>
          <a:xfrm>
            <a:off x="1054446" y="2296114"/>
            <a:ext cx="16513358" cy="6962187"/>
            <a:chOff x="0" y="-1181361"/>
            <a:chExt cx="28549777" cy="12036855"/>
          </a:xfrm>
        </p:grpSpPr>
        <p:sp>
          <p:nvSpPr>
            <p:cNvPr id="8" name="Freeform 8">
              <a:extLst>
                <a:ext uri="{FF2B5EF4-FFF2-40B4-BE49-F238E27FC236}">
                  <a16:creationId xmlns:a16="http://schemas.microsoft.com/office/drawing/2014/main" id="{ACC5A163-B2E4-9948-8C65-E2DB50A9477B}"/>
                </a:ext>
              </a:extLst>
            </p:cNvPr>
            <p:cNvSpPr/>
            <p:nvPr/>
          </p:nvSpPr>
          <p:spPr>
            <a:xfrm>
              <a:off x="0" y="0"/>
              <a:ext cx="28549777" cy="10855494"/>
            </a:xfrm>
            <a:custGeom>
              <a:avLst/>
              <a:gdLst/>
              <a:ahLst/>
              <a:cxnLst/>
              <a:rect l="l" t="t" r="r" b="b"/>
              <a:pathLst>
                <a:path w="28549777" h="10855494">
                  <a:moveTo>
                    <a:pt x="0" y="0"/>
                  </a:moveTo>
                  <a:lnTo>
                    <a:pt x="28549777" y="0"/>
                  </a:lnTo>
                  <a:lnTo>
                    <a:pt x="28549777" y="10855494"/>
                  </a:lnTo>
                  <a:lnTo>
                    <a:pt x="0" y="10855494"/>
                  </a:lnTo>
                  <a:close/>
                </a:path>
              </a:pathLst>
            </a:custGeom>
            <a:blipFill>
              <a:blip r:embed="rId4">
                <a:alphaModFix amt="0"/>
              </a:blip>
              <a:stretch>
                <a:fillRect l="-16734" r="56514" b="38280"/>
              </a:stretch>
            </a:blipFill>
          </p:spPr>
        </p:sp>
        <p:sp>
          <p:nvSpPr>
            <p:cNvPr id="9" name="TextBox 9">
              <a:extLst>
                <a:ext uri="{FF2B5EF4-FFF2-40B4-BE49-F238E27FC236}">
                  <a16:creationId xmlns:a16="http://schemas.microsoft.com/office/drawing/2014/main" id="{A64408AD-7F68-C9F1-9B46-0DD16CFD931C}"/>
                </a:ext>
              </a:extLst>
            </p:cNvPr>
            <p:cNvSpPr txBox="1"/>
            <p:nvPr/>
          </p:nvSpPr>
          <p:spPr>
            <a:xfrm>
              <a:off x="427567" y="-1181361"/>
              <a:ext cx="26732523" cy="11007892"/>
            </a:xfrm>
            <a:prstGeom prst="rect">
              <a:avLst/>
            </a:prstGeom>
          </p:spPr>
          <p:txBody>
            <a:bodyPr lIns="0" tIns="0" rIns="0" bIns="0" rtlCol="0" anchor="ctr"/>
            <a:lstStyle/>
            <a:p>
              <a:pPr algn="just">
                <a:lnSpc>
                  <a:spcPts val="5652"/>
                </a:lnSpc>
              </a:pP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6.</a:t>
              </a:r>
              <a:r>
                <a:rPr lang="en-IN" sz="4000"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Consumer Status </a:t>
              </a: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Module :</a:t>
              </a:r>
            </a:p>
            <a:p>
              <a:pPr algn="just">
                <a:lnSpc>
                  <a:spcPts val="5652"/>
                </a:lnSpc>
              </a:pPr>
              <a:endPar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just">
                <a:lnSpc>
                  <a:spcPts val="5652"/>
                </a:lnSpc>
              </a:pPr>
              <a:r>
                <a:rPr lang="en-US" sz="4000" dirty="0">
                  <a:latin typeface="Times New Roman" panose="02020603050405020304" pitchFamily="18" charset="0"/>
                  <a:cs typeface="Times New Roman" panose="02020603050405020304" pitchFamily="18" charset="0"/>
                </a:rPr>
                <a:t>The Consumer Status module is used to search and verify consumer details in the system. It uses a Binary Search Tree (BST) to perform fast searching using Consumer ID. When a consumer is found, the system displays the active status and power supply condition. This module improves searching efficiency compared to traditional searching methods. It helps operators quickly access consumer information in the network.</a:t>
              </a:r>
              <a:endParaRPr lang="en-US" sz="4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grpSp>
    </p:spTree>
    <p:extLst>
      <p:ext uri="{BB962C8B-B14F-4D97-AF65-F5344CB8AC3E}">
        <p14:creationId xmlns:p14="http://schemas.microsoft.com/office/powerpoint/2010/main" val="2976712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4B601-D2E1-A50B-8DD0-B2A73310F90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E7A9B31-E08C-4CC5-E3DF-8C16D74EC89D}"/>
              </a:ext>
            </a:extLst>
          </p:cNvPr>
          <p:cNvSpPr txBox="1"/>
          <p:nvPr/>
        </p:nvSpPr>
        <p:spPr>
          <a:xfrm>
            <a:off x="4139978" y="1000125"/>
            <a:ext cx="14148022" cy="758521"/>
          </a:xfrm>
          <a:prstGeom prst="rect">
            <a:avLst/>
          </a:prstGeom>
        </p:spPr>
        <p:txBody>
          <a:bodyPr lIns="0" tIns="0" rIns="0" bIns="0" rtlCol="0" anchor="t">
            <a:spAutoFit/>
          </a:bodyPr>
          <a:lstStyle/>
          <a:p>
            <a:pPr algn="l">
              <a:lnSpc>
                <a:spcPts val="5635"/>
              </a:lnSpc>
            </a:pPr>
            <a:r>
              <a:rPr lang="en-US" sz="4695" b="1">
                <a:solidFill>
                  <a:srgbClr val="FF0066"/>
                </a:solidFill>
                <a:latin typeface="Times New Roman Bold"/>
                <a:ea typeface="Times New Roman Bold"/>
                <a:cs typeface="Times New Roman Bold"/>
                <a:sym typeface="Times New Roman Bold"/>
              </a:rPr>
              <a:t>MODULES &amp; ITS DESCRIPTION</a:t>
            </a:r>
          </a:p>
        </p:txBody>
      </p:sp>
      <p:grpSp>
        <p:nvGrpSpPr>
          <p:cNvPr id="3" name="Group 3">
            <a:extLst>
              <a:ext uri="{FF2B5EF4-FFF2-40B4-BE49-F238E27FC236}">
                <a16:creationId xmlns:a16="http://schemas.microsoft.com/office/drawing/2014/main" id="{A57AD775-F0A7-F572-E6DE-CABF5242920F}"/>
              </a:ext>
            </a:extLst>
          </p:cNvPr>
          <p:cNvGrpSpPr/>
          <p:nvPr/>
        </p:nvGrpSpPr>
        <p:grpSpPr>
          <a:xfrm>
            <a:off x="510988" y="552888"/>
            <a:ext cx="1581521" cy="1561033"/>
            <a:chOff x="0" y="0"/>
            <a:chExt cx="2108695" cy="2081378"/>
          </a:xfrm>
        </p:grpSpPr>
        <p:sp>
          <p:nvSpPr>
            <p:cNvPr id="4" name="Freeform 4">
              <a:extLst>
                <a:ext uri="{FF2B5EF4-FFF2-40B4-BE49-F238E27FC236}">
                  <a16:creationId xmlns:a16="http://schemas.microsoft.com/office/drawing/2014/main" id="{5AC90767-674D-A04D-47DF-23DF82D0ED17}"/>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5" name="Group 5">
            <a:extLst>
              <a:ext uri="{FF2B5EF4-FFF2-40B4-BE49-F238E27FC236}">
                <a16:creationId xmlns:a16="http://schemas.microsoft.com/office/drawing/2014/main" id="{5165876C-3A67-F8E1-9819-98D8CFA85313}"/>
              </a:ext>
            </a:extLst>
          </p:cNvPr>
          <p:cNvGrpSpPr/>
          <p:nvPr/>
        </p:nvGrpSpPr>
        <p:grpSpPr>
          <a:xfrm>
            <a:off x="15458913" y="540525"/>
            <a:ext cx="2108892" cy="1613116"/>
            <a:chOff x="0" y="0"/>
            <a:chExt cx="2811856" cy="2150821"/>
          </a:xfrm>
        </p:grpSpPr>
        <p:sp>
          <p:nvSpPr>
            <p:cNvPr id="6" name="Freeform 6">
              <a:extLst>
                <a:ext uri="{FF2B5EF4-FFF2-40B4-BE49-F238E27FC236}">
                  <a16:creationId xmlns:a16="http://schemas.microsoft.com/office/drawing/2014/main" id="{61AB9797-879E-0B37-0F69-C1F3D0CFECE2}"/>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grpSp>
        <p:nvGrpSpPr>
          <p:cNvPr id="7" name="Group 7">
            <a:extLst>
              <a:ext uri="{FF2B5EF4-FFF2-40B4-BE49-F238E27FC236}">
                <a16:creationId xmlns:a16="http://schemas.microsoft.com/office/drawing/2014/main" id="{CB5F2D54-DA83-FDFF-9BB6-62B2176F7E64}"/>
              </a:ext>
            </a:extLst>
          </p:cNvPr>
          <p:cNvGrpSpPr/>
          <p:nvPr/>
        </p:nvGrpSpPr>
        <p:grpSpPr>
          <a:xfrm>
            <a:off x="1054446" y="2296114"/>
            <a:ext cx="16513358" cy="6962187"/>
            <a:chOff x="0" y="-1181361"/>
            <a:chExt cx="28549777" cy="12036855"/>
          </a:xfrm>
        </p:grpSpPr>
        <p:sp>
          <p:nvSpPr>
            <p:cNvPr id="8" name="Freeform 8">
              <a:extLst>
                <a:ext uri="{FF2B5EF4-FFF2-40B4-BE49-F238E27FC236}">
                  <a16:creationId xmlns:a16="http://schemas.microsoft.com/office/drawing/2014/main" id="{B3E58C76-2671-4937-9307-5005E3F655A1}"/>
                </a:ext>
              </a:extLst>
            </p:cNvPr>
            <p:cNvSpPr/>
            <p:nvPr/>
          </p:nvSpPr>
          <p:spPr>
            <a:xfrm>
              <a:off x="0" y="0"/>
              <a:ext cx="28549777" cy="10855494"/>
            </a:xfrm>
            <a:custGeom>
              <a:avLst/>
              <a:gdLst/>
              <a:ahLst/>
              <a:cxnLst/>
              <a:rect l="l" t="t" r="r" b="b"/>
              <a:pathLst>
                <a:path w="28549777" h="10855494">
                  <a:moveTo>
                    <a:pt x="0" y="0"/>
                  </a:moveTo>
                  <a:lnTo>
                    <a:pt x="28549777" y="0"/>
                  </a:lnTo>
                  <a:lnTo>
                    <a:pt x="28549777" y="10855494"/>
                  </a:lnTo>
                  <a:lnTo>
                    <a:pt x="0" y="10855494"/>
                  </a:lnTo>
                  <a:close/>
                </a:path>
              </a:pathLst>
            </a:custGeom>
            <a:blipFill>
              <a:blip r:embed="rId4">
                <a:alphaModFix amt="0"/>
              </a:blip>
              <a:stretch>
                <a:fillRect l="-16734" r="56514" b="38280"/>
              </a:stretch>
            </a:blipFill>
          </p:spPr>
        </p:sp>
        <p:sp>
          <p:nvSpPr>
            <p:cNvPr id="9" name="TextBox 9">
              <a:extLst>
                <a:ext uri="{FF2B5EF4-FFF2-40B4-BE49-F238E27FC236}">
                  <a16:creationId xmlns:a16="http://schemas.microsoft.com/office/drawing/2014/main" id="{920B7DC9-AAAF-EBCE-A484-F51365C4C91B}"/>
                </a:ext>
              </a:extLst>
            </p:cNvPr>
            <p:cNvSpPr txBox="1"/>
            <p:nvPr/>
          </p:nvSpPr>
          <p:spPr>
            <a:xfrm>
              <a:off x="427567" y="-1181361"/>
              <a:ext cx="26732523" cy="11007892"/>
            </a:xfrm>
            <a:prstGeom prst="rect">
              <a:avLst/>
            </a:prstGeom>
          </p:spPr>
          <p:txBody>
            <a:bodyPr lIns="0" tIns="0" rIns="0" bIns="0" rtlCol="0" anchor="ctr"/>
            <a:lstStyle/>
            <a:p>
              <a:pPr algn="just">
                <a:lnSpc>
                  <a:spcPts val="5652"/>
                </a:lnSpc>
              </a:pP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7.</a:t>
              </a:r>
              <a:r>
                <a:rPr lang="en-IN" sz="4000"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Shutdown </a:t>
              </a:r>
              <a:r>
                <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Module :</a:t>
              </a:r>
            </a:p>
            <a:p>
              <a:pPr algn="just">
                <a:lnSpc>
                  <a:spcPts val="5652"/>
                </a:lnSpc>
              </a:pPr>
              <a:endParaRPr lang="en-US" sz="4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just">
                <a:lnSpc>
                  <a:spcPts val="5652"/>
                </a:lnSpc>
              </a:pPr>
              <a:r>
                <a:rPr lang="en-US" sz="4000" dirty="0">
                  <a:latin typeface="Times New Roman" panose="02020603050405020304" pitchFamily="18" charset="0"/>
                  <a:cs typeface="Times New Roman" panose="02020603050405020304" pitchFamily="18" charset="0"/>
                </a:rPr>
                <a:t>The Shutdown module is used to safely terminate the Smart Power Distribution Management System. It closes all running operations and displays system shutdown messages. This module ensures that the program ends without affecting ongoing processes. It provides secure and proper termination of the application. The shutdown operation marks the completion of system execution.</a:t>
              </a:r>
              <a:endParaRPr lang="en-US" sz="4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grpSp>
    </p:spTree>
    <p:extLst>
      <p:ext uri="{BB962C8B-B14F-4D97-AF65-F5344CB8AC3E}">
        <p14:creationId xmlns:p14="http://schemas.microsoft.com/office/powerpoint/2010/main" val="418124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7572" y="179219"/>
            <a:ext cx="1318564" cy="1151483"/>
            <a:chOff x="0" y="0"/>
            <a:chExt cx="2108695" cy="2081378"/>
          </a:xfrm>
        </p:grpSpPr>
        <p:sp>
          <p:nvSpPr>
            <p:cNvPr id="3" name="Freeform 3"/>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4" name="Group 4"/>
          <p:cNvGrpSpPr/>
          <p:nvPr/>
        </p:nvGrpSpPr>
        <p:grpSpPr>
          <a:xfrm>
            <a:off x="16022371" y="129879"/>
            <a:ext cx="1551296" cy="1250175"/>
            <a:chOff x="0" y="0"/>
            <a:chExt cx="2811856" cy="2150821"/>
          </a:xfrm>
        </p:grpSpPr>
        <p:sp>
          <p:nvSpPr>
            <p:cNvPr id="5" name="Freeform 5"/>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sp>
        <p:nvSpPr>
          <p:cNvPr id="9" name="TextBox 9"/>
          <p:cNvSpPr txBox="1"/>
          <p:nvPr/>
        </p:nvSpPr>
        <p:spPr>
          <a:xfrm>
            <a:off x="2576292" y="302476"/>
            <a:ext cx="10029965" cy="657260"/>
          </a:xfrm>
          <a:prstGeom prst="rect">
            <a:avLst/>
          </a:prstGeom>
        </p:spPr>
        <p:txBody>
          <a:bodyPr lIns="0" tIns="0" rIns="0" bIns="0" rtlCol="0" anchor="t">
            <a:spAutoFit/>
          </a:bodyPr>
          <a:lstStyle/>
          <a:p>
            <a:pPr algn="l">
              <a:lnSpc>
                <a:spcPts val="5040"/>
              </a:lnSpc>
            </a:pPr>
            <a:r>
              <a:rPr lang="en-US" sz="4200" b="1" dirty="0">
                <a:solidFill>
                  <a:srgbClr val="FF3399"/>
                </a:solidFill>
                <a:latin typeface="Times New Roman Bold"/>
                <a:ea typeface="Times New Roman Bold"/>
                <a:cs typeface="Times New Roman Bold"/>
                <a:sym typeface="Times New Roman Bold"/>
              </a:rPr>
              <a:t>                  MODULE IMPLEMENTATION</a:t>
            </a:r>
          </a:p>
        </p:txBody>
      </p:sp>
      <p:sp>
        <p:nvSpPr>
          <p:cNvPr id="8" name="TextBox 7">
            <a:extLst>
              <a:ext uri="{FF2B5EF4-FFF2-40B4-BE49-F238E27FC236}">
                <a16:creationId xmlns:a16="http://schemas.microsoft.com/office/drawing/2014/main" id="{5699AD1D-163F-F31D-481D-9D20FED14559}"/>
              </a:ext>
            </a:extLst>
          </p:cNvPr>
          <p:cNvSpPr txBox="1"/>
          <p:nvPr/>
        </p:nvSpPr>
        <p:spPr>
          <a:xfrm>
            <a:off x="1066800" y="1330702"/>
            <a:ext cx="10972800" cy="8956298"/>
          </a:xfrm>
          <a:prstGeom prst="rect">
            <a:avLst/>
          </a:prstGeom>
          <a:noFill/>
        </p:spPr>
        <p:txBody>
          <a:bodyPr wrap="square" rtlCol="0">
            <a:spAutoFit/>
          </a:bodyPr>
          <a:lstStyle/>
          <a:p>
            <a:r>
              <a:rPr lang="en-IN" b="1" dirty="0"/>
              <a:t>#include &lt;</a:t>
            </a:r>
            <a:r>
              <a:rPr lang="en-IN" b="1" dirty="0" err="1"/>
              <a:t>stdio.h</a:t>
            </a:r>
            <a:r>
              <a:rPr lang="en-IN" b="1" dirty="0"/>
              <a:t>&gt;</a:t>
            </a:r>
          </a:p>
          <a:p>
            <a:r>
              <a:rPr lang="en-IN" b="1" dirty="0"/>
              <a:t>#include &lt;</a:t>
            </a:r>
            <a:r>
              <a:rPr lang="en-IN" b="1" dirty="0" err="1"/>
              <a:t>stdlib.h</a:t>
            </a:r>
            <a:r>
              <a:rPr lang="en-IN" b="1" dirty="0"/>
              <a:t>&gt;</a:t>
            </a:r>
          </a:p>
          <a:p>
            <a:r>
              <a:rPr lang="en-IN" b="1" dirty="0"/>
              <a:t>#include &lt;</a:t>
            </a:r>
            <a:r>
              <a:rPr lang="en-IN" b="1" dirty="0" err="1"/>
              <a:t>string.h</a:t>
            </a:r>
            <a:r>
              <a:rPr lang="en-IN" b="1" dirty="0"/>
              <a:t>&gt;</a:t>
            </a:r>
          </a:p>
          <a:p>
            <a:r>
              <a:rPr lang="en-IN" b="1" dirty="0"/>
              <a:t>/// ================= LINKED LIST =================</a:t>
            </a:r>
          </a:p>
          <a:p>
            <a:r>
              <a:rPr lang="en-IN" b="1" dirty="0"/>
              <a:t>struct Consumer {</a:t>
            </a:r>
          </a:p>
          <a:p>
            <a:r>
              <a:rPr lang="en-IN" b="1" dirty="0"/>
              <a:t>    int id;</a:t>
            </a:r>
          </a:p>
          <a:p>
            <a:r>
              <a:rPr lang="en-IN" b="1" dirty="0"/>
              <a:t>    char name[50];</a:t>
            </a:r>
          </a:p>
          <a:p>
            <a:r>
              <a:rPr lang="en-IN" b="1" dirty="0"/>
              <a:t>    char location[50];</a:t>
            </a:r>
          </a:p>
          <a:p>
            <a:r>
              <a:rPr lang="en-IN" b="1" dirty="0"/>
              <a:t>    float units;</a:t>
            </a:r>
          </a:p>
          <a:p>
            <a:r>
              <a:rPr lang="en-IN" b="1" dirty="0"/>
              <a:t>    struct Consumer* next;};</a:t>
            </a:r>
          </a:p>
          <a:p>
            <a:r>
              <a:rPr lang="en-IN" b="1" dirty="0"/>
              <a:t>struct Consumer* head = NULL;</a:t>
            </a:r>
          </a:p>
          <a:p>
            <a:r>
              <a:rPr lang="en-IN" b="1" dirty="0"/>
              <a:t>/// ================= BST =================</a:t>
            </a:r>
          </a:p>
          <a:p>
            <a:r>
              <a:rPr lang="en-IN" b="1" dirty="0"/>
              <a:t>struct BST {</a:t>
            </a:r>
          </a:p>
          <a:p>
            <a:r>
              <a:rPr lang="en-IN" b="1" dirty="0"/>
              <a:t>    int id;</a:t>
            </a:r>
          </a:p>
          <a:p>
            <a:r>
              <a:rPr lang="en-IN" b="1" dirty="0"/>
              <a:t>    struct BST *left, *right;};</a:t>
            </a:r>
          </a:p>
          <a:p>
            <a:r>
              <a:rPr lang="en-IN" b="1" dirty="0"/>
              <a:t>struct BST* root = NULL;</a:t>
            </a:r>
          </a:p>
          <a:p>
            <a:r>
              <a:rPr lang="en-IN" b="1" dirty="0"/>
              <a:t>/// ================= QUEUE =================</a:t>
            </a:r>
          </a:p>
          <a:p>
            <a:r>
              <a:rPr lang="en-IN" b="1" dirty="0"/>
              <a:t>#define MAX 10</a:t>
            </a:r>
          </a:p>
          <a:p>
            <a:r>
              <a:rPr lang="en-IN" b="1" dirty="0"/>
              <a:t>int queue[MAX], front = -1, rear = -1;</a:t>
            </a:r>
          </a:p>
          <a:p>
            <a:r>
              <a:rPr lang="en-IN" b="1" dirty="0"/>
              <a:t>/// ================= BST FUNCTIONS =================</a:t>
            </a:r>
          </a:p>
          <a:p>
            <a:r>
              <a:rPr lang="en-IN" b="1" dirty="0"/>
              <a:t>struct BST* </a:t>
            </a:r>
            <a:r>
              <a:rPr lang="en-IN" b="1" dirty="0" err="1"/>
              <a:t>insertBST</a:t>
            </a:r>
            <a:r>
              <a:rPr lang="en-IN" b="1" dirty="0"/>
              <a:t>(struct BST* root, int id) {</a:t>
            </a:r>
          </a:p>
          <a:p>
            <a:r>
              <a:rPr lang="en-IN" b="1" dirty="0"/>
              <a:t>    if (!root) {</a:t>
            </a:r>
          </a:p>
          <a:p>
            <a:r>
              <a:rPr lang="en-IN" b="1" dirty="0"/>
              <a:t>        struct BST* </a:t>
            </a:r>
            <a:r>
              <a:rPr lang="en-IN" b="1" dirty="0" err="1"/>
              <a:t>newNode</a:t>
            </a:r>
            <a:r>
              <a:rPr lang="en-IN" b="1" dirty="0"/>
              <a:t> = malloc(</a:t>
            </a:r>
            <a:r>
              <a:rPr lang="en-IN" b="1" dirty="0" err="1"/>
              <a:t>sizeof</a:t>
            </a:r>
            <a:r>
              <a:rPr lang="en-IN" b="1" dirty="0"/>
              <a:t>(struct BST));</a:t>
            </a:r>
          </a:p>
          <a:p>
            <a:r>
              <a:rPr lang="en-IN" b="1" dirty="0"/>
              <a:t>        </a:t>
            </a:r>
            <a:r>
              <a:rPr lang="en-IN" b="1" dirty="0" err="1"/>
              <a:t>newNode</a:t>
            </a:r>
            <a:r>
              <a:rPr lang="en-IN" b="1" dirty="0"/>
              <a:t>-&gt;id = id;</a:t>
            </a:r>
          </a:p>
          <a:p>
            <a:r>
              <a:rPr lang="en-IN" b="1" dirty="0"/>
              <a:t>        </a:t>
            </a:r>
            <a:r>
              <a:rPr lang="en-IN" b="1" dirty="0" err="1"/>
              <a:t>newNode</a:t>
            </a:r>
            <a:r>
              <a:rPr lang="en-IN" b="1" dirty="0"/>
              <a:t>-&gt;left = </a:t>
            </a:r>
            <a:r>
              <a:rPr lang="en-IN" b="1" dirty="0" err="1"/>
              <a:t>newNode</a:t>
            </a:r>
            <a:r>
              <a:rPr lang="en-IN" b="1" dirty="0"/>
              <a:t>-&gt;right = NULL;</a:t>
            </a:r>
          </a:p>
          <a:p>
            <a:r>
              <a:rPr lang="en-IN" b="1" dirty="0"/>
              <a:t>        return </a:t>
            </a:r>
            <a:r>
              <a:rPr lang="en-IN" b="1" dirty="0" err="1"/>
              <a:t>newNode</a:t>
            </a:r>
            <a:r>
              <a:rPr lang="en-IN" b="1" dirty="0"/>
              <a:t>}</a:t>
            </a:r>
          </a:p>
          <a:p>
            <a:r>
              <a:rPr lang="en-IN" b="1" dirty="0"/>
              <a:t>    if (id &lt; root-&gt;id)</a:t>
            </a:r>
          </a:p>
          <a:p>
            <a:r>
              <a:rPr lang="en-IN" b="1" dirty="0"/>
              <a:t>        root-&gt;left = </a:t>
            </a:r>
            <a:r>
              <a:rPr lang="en-IN" b="1" dirty="0" err="1"/>
              <a:t>insertBST</a:t>
            </a:r>
            <a:r>
              <a:rPr lang="en-IN" b="1" dirty="0"/>
              <a:t>(root-&gt;left, id);</a:t>
            </a:r>
          </a:p>
          <a:p>
            <a:r>
              <a:rPr lang="en-IN" b="1" dirty="0"/>
              <a:t>    else</a:t>
            </a:r>
          </a:p>
          <a:p>
            <a:r>
              <a:rPr lang="en-IN" b="1" dirty="0"/>
              <a:t>        root-&gt;right = </a:t>
            </a:r>
            <a:r>
              <a:rPr lang="en-IN" b="1" dirty="0" err="1"/>
              <a:t>insertBST</a:t>
            </a:r>
            <a:r>
              <a:rPr lang="en-IN" b="1" dirty="0"/>
              <a:t>(root-&gt;right, id);</a:t>
            </a:r>
          </a:p>
          <a:p>
            <a:r>
              <a:rPr lang="en-IN" b="1" dirty="0"/>
              <a:t>    return root;}</a:t>
            </a:r>
          </a:p>
          <a:p>
            <a:endParaRPr lang="en-IN" b="1" dirty="0"/>
          </a:p>
        </p:txBody>
      </p:sp>
      <p:cxnSp>
        <p:nvCxnSpPr>
          <p:cNvPr id="10" name="Straight Connector 9">
            <a:extLst>
              <a:ext uri="{FF2B5EF4-FFF2-40B4-BE49-F238E27FC236}">
                <a16:creationId xmlns:a16="http://schemas.microsoft.com/office/drawing/2014/main" id="{DBD90A38-E04F-1C82-0688-6EDB93835AC1}"/>
              </a:ext>
            </a:extLst>
          </p:cNvPr>
          <p:cNvCxnSpPr>
            <a:cxnSpLocks/>
          </p:cNvCxnSpPr>
          <p:nvPr/>
        </p:nvCxnSpPr>
        <p:spPr>
          <a:xfrm>
            <a:off x="8534400" y="1173450"/>
            <a:ext cx="0" cy="9270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EC20F6B-DE62-9F00-0D56-5535225692BD}"/>
              </a:ext>
            </a:extLst>
          </p:cNvPr>
          <p:cNvSpPr txBox="1"/>
          <p:nvPr/>
        </p:nvSpPr>
        <p:spPr>
          <a:xfrm>
            <a:off x="9753601" y="1094601"/>
            <a:ext cx="8534399" cy="9233297"/>
          </a:xfrm>
          <a:prstGeom prst="rect">
            <a:avLst/>
          </a:prstGeom>
          <a:noFill/>
        </p:spPr>
        <p:txBody>
          <a:bodyPr wrap="square" rtlCol="0">
            <a:spAutoFit/>
          </a:bodyPr>
          <a:lstStyle/>
          <a:p>
            <a:r>
              <a:rPr lang="en-IN" b="1" dirty="0"/>
              <a:t>void </a:t>
            </a:r>
            <a:r>
              <a:rPr lang="en-IN" b="1" dirty="0" err="1"/>
              <a:t>searchBST</a:t>
            </a:r>
            <a:r>
              <a:rPr lang="en-IN" b="1" dirty="0"/>
              <a:t>(struct BST* root, int id) {</a:t>
            </a:r>
          </a:p>
          <a:p>
            <a:r>
              <a:rPr lang="en-IN" b="1" dirty="0"/>
              <a:t>    if (!root) {</a:t>
            </a:r>
          </a:p>
          <a:p>
            <a:r>
              <a:rPr lang="en-IN" b="1" dirty="0"/>
              <a:t>        </a:t>
            </a:r>
            <a:r>
              <a:rPr lang="en-IN" b="1" dirty="0" err="1"/>
              <a:t>printf</a:t>
            </a:r>
            <a:r>
              <a:rPr lang="en-IN" b="1" dirty="0"/>
              <a:t>("\n❌ Consumer Not Found!\n");</a:t>
            </a:r>
          </a:p>
          <a:p>
            <a:r>
              <a:rPr lang="en-IN" b="1" dirty="0"/>
              <a:t>        return; }</a:t>
            </a:r>
          </a:p>
          <a:p>
            <a:r>
              <a:rPr lang="en-IN" b="1" dirty="0"/>
              <a:t>    if (root-&gt;id == id) {</a:t>
            </a:r>
          </a:p>
          <a:p>
            <a:r>
              <a:rPr lang="en-IN" b="1" dirty="0"/>
              <a:t>        </a:t>
            </a:r>
            <a:r>
              <a:rPr lang="en-IN" b="1" dirty="0" err="1"/>
              <a:t>printf</a:t>
            </a:r>
            <a:r>
              <a:rPr lang="en-IN" b="1" dirty="0"/>
              <a:t>("\n✔ Consumer Found in Network\n");</a:t>
            </a:r>
          </a:p>
          <a:p>
            <a:r>
              <a:rPr lang="en-IN" b="1" dirty="0"/>
              <a:t> </a:t>
            </a:r>
            <a:r>
              <a:rPr lang="en-IN" b="1" dirty="0" err="1"/>
              <a:t>printf</a:t>
            </a:r>
            <a:r>
              <a:rPr lang="en-IN" b="1" dirty="0"/>
              <a:t>("Status: ACTIVE | Supply: NORMAL\n");</a:t>
            </a:r>
          </a:p>
          <a:p>
            <a:r>
              <a:rPr lang="en-IN" b="1" dirty="0"/>
              <a:t>        return; }</a:t>
            </a:r>
          </a:p>
          <a:p>
            <a:r>
              <a:rPr lang="en-IN" b="1" dirty="0"/>
              <a:t>    if (id &lt; root-&gt;id)</a:t>
            </a:r>
          </a:p>
          <a:p>
            <a:r>
              <a:rPr lang="en-IN" b="1" dirty="0"/>
              <a:t>        </a:t>
            </a:r>
            <a:r>
              <a:rPr lang="en-IN" b="1" dirty="0" err="1"/>
              <a:t>searchBST</a:t>
            </a:r>
            <a:r>
              <a:rPr lang="en-IN" b="1" dirty="0"/>
              <a:t>(root-&gt;left, id);</a:t>
            </a:r>
          </a:p>
          <a:p>
            <a:r>
              <a:rPr lang="en-IN" b="1" dirty="0"/>
              <a:t>    else</a:t>
            </a:r>
          </a:p>
          <a:p>
            <a:r>
              <a:rPr lang="en-IN" b="1" dirty="0"/>
              <a:t>        </a:t>
            </a:r>
            <a:r>
              <a:rPr lang="en-IN" b="1" dirty="0" err="1"/>
              <a:t>searchBST</a:t>
            </a:r>
            <a:r>
              <a:rPr lang="en-IN" b="1" dirty="0"/>
              <a:t>(root-&gt;right, id);}</a:t>
            </a:r>
          </a:p>
          <a:p>
            <a:r>
              <a:rPr lang="en-IN" b="1" dirty="0"/>
              <a:t>/// ================= CONSUMER MANAGEMENT =================</a:t>
            </a:r>
          </a:p>
          <a:p>
            <a:r>
              <a:rPr lang="en-IN" b="1" dirty="0"/>
              <a:t>void </a:t>
            </a:r>
            <a:r>
              <a:rPr lang="en-IN" b="1" dirty="0" err="1"/>
              <a:t>addConsumer</a:t>
            </a:r>
            <a:r>
              <a:rPr lang="en-IN" b="1" dirty="0"/>
              <a:t>() {</a:t>
            </a:r>
          </a:p>
          <a:p>
            <a:r>
              <a:rPr lang="en-IN" b="1" dirty="0"/>
              <a:t>    struct Consumer* </a:t>
            </a:r>
            <a:r>
              <a:rPr lang="en-IN" b="1" dirty="0" err="1"/>
              <a:t>newNode</a:t>
            </a:r>
            <a:r>
              <a:rPr lang="en-IN" b="1" dirty="0"/>
              <a:t> = malloc(</a:t>
            </a:r>
            <a:r>
              <a:rPr lang="en-IN" b="1" dirty="0" err="1"/>
              <a:t>sizeof</a:t>
            </a:r>
            <a:r>
              <a:rPr lang="en-IN" b="1" dirty="0"/>
              <a:t>(struct Consumer));</a:t>
            </a:r>
          </a:p>
          <a:p>
            <a:r>
              <a:rPr lang="en-IN" b="1" dirty="0" err="1"/>
              <a:t>printf</a:t>
            </a:r>
            <a:r>
              <a:rPr lang="en-IN" b="1" dirty="0"/>
              <a:t>("\n➤ Registering New Consumer...\n\n");</a:t>
            </a:r>
          </a:p>
          <a:p>
            <a:r>
              <a:rPr lang="en-IN" b="1" dirty="0"/>
              <a:t>    </a:t>
            </a:r>
            <a:r>
              <a:rPr lang="en-IN" b="1" dirty="0" err="1"/>
              <a:t>printf</a:t>
            </a:r>
            <a:r>
              <a:rPr lang="en-IN" b="1" dirty="0"/>
              <a:t>("Consumer ID      : ");</a:t>
            </a:r>
          </a:p>
          <a:p>
            <a:r>
              <a:rPr lang="en-IN" b="1" dirty="0" err="1"/>
              <a:t>scanf</a:t>
            </a:r>
            <a:r>
              <a:rPr lang="en-IN" b="1" dirty="0"/>
              <a:t>("%d", &amp;</a:t>
            </a:r>
            <a:r>
              <a:rPr lang="en-IN" b="1" dirty="0" err="1"/>
              <a:t>newNode</a:t>
            </a:r>
            <a:r>
              <a:rPr lang="en-IN" b="1" dirty="0"/>
              <a:t>-&gt;id);</a:t>
            </a:r>
          </a:p>
          <a:p>
            <a:r>
              <a:rPr lang="en-IN" b="1" dirty="0" err="1"/>
              <a:t>printf</a:t>
            </a:r>
            <a:r>
              <a:rPr lang="en-IN" b="1" dirty="0"/>
              <a:t>("Name             : ");</a:t>
            </a:r>
          </a:p>
          <a:p>
            <a:r>
              <a:rPr lang="en-IN" b="1" dirty="0"/>
              <a:t>    </a:t>
            </a:r>
            <a:r>
              <a:rPr lang="en-IN" b="1" dirty="0" err="1"/>
              <a:t>scanf</a:t>
            </a:r>
            <a:r>
              <a:rPr lang="en-IN" b="1" dirty="0"/>
              <a:t>("%s", </a:t>
            </a:r>
            <a:r>
              <a:rPr lang="en-IN" b="1" dirty="0" err="1"/>
              <a:t>newNode</a:t>
            </a:r>
            <a:r>
              <a:rPr lang="en-IN" b="1" dirty="0"/>
              <a:t>-&gt;name);</a:t>
            </a:r>
          </a:p>
          <a:p>
            <a:r>
              <a:rPr lang="en-IN" b="1" dirty="0"/>
              <a:t>  </a:t>
            </a:r>
            <a:r>
              <a:rPr lang="en-IN" b="1" dirty="0" err="1"/>
              <a:t>printf</a:t>
            </a:r>
            <a:r>
              <a:rPr lang="en-IN" b="1" dirty="0"/>
              <a:t>("Location         : ");</a:t>
            </a:r>
          </a:p>
          <a:p>
            <a:r>
              <a:rPr lang="en-IN" b="1" dirty="0"/>
              <a:t>    </a:t>
            </a:r>
            <a:r>
              <a:rPr lang="en-IN" b="1" dirty="0" err="1"/>
              <a:t>scanf</a:t>
            </a:r>
            <a:r>
              <a:rPr lang="en-IN" b="1" dirty="0"/>
              <a:t>("%s", </a:t>
            </a:r>
            <a:r>
              <a:rPr lang="en-IN" b="1" dirty="0" err="1"/>
              <a:t>newNode</a:t>
            </a:r>
            <a:r>
              <a:rPr lang="en-IN" b="1" dirty="0"/>
              <a:t>-&gt;location);</a:t>
            </a:r>
          </a:p>
          <a:p>
            <a:r>
              <a:rPr lang="en-IN" b="1" dirty="0" err="1"/>
              <a:t>printf</a:t>
            </a:r>
            <a:r>
              <a:rPr lang="en-IN" b="1" dirty="0"/>
              <a:t>("Energy Usage     : ");</a:t>
            </a:r>
          </a:p>
          <a:p>
            <a:r>
              <a:rPr lang="en-IN" b="1" dirty="0"/>
              <a:t>    </a:t>
            </a:r>
            <a:r>
              <a:rPr lang="en-IN" b="1" dirty="0" err="1"/>
              <a:t>scanf</a:t>
            </a:r>
            <a:r>
              <a:rPr lang="en-IN" b="1" dirty="0"/>
              <a:t>("%f", &amp;</a:t>
            </a:r>
            <a:r>
              <a:rPr lang="en-IN" b="1" dirty="0" err="1"/>
              <a:t>newNode</a:t>
            </a:r>
            <a:r>
              <a:rPr lang="en-IN" b="1" dirty="0"/>
              <a:t>-&gt;units);</a:t>
            </a:r>
          </a:p>
          <a:p>
            <a:r>
              <a:rPr lang="en-IN" b="1" dirty="0" err="1"/>
              <a:t>newNode</a:t>
            </a:r>
            <a:r>
              <a:rPr lang="en-IN" b="1" dirty="0"/>
              <a:t>-&gt;next = head;</a:t>
            </a:r>
          </a:p>
          <a:p>
            <a:r>
              <a:rPr lang="en-IN" b="1" dirty="0"/>
              <a:t>    head = </a:t>
            </a:r>
            <a:r>
              <a:rPr lang="en-IN" b="1" dirty="0" err="1"/>
              <a:t>newNode</a:t>
            </a:r>
            <a:r>
              <a:rPr lang="en-IN" b="1" dirty="0"/>
              <a:t>;</a:t>
            </a:r>
          </a:p>
          <a:p>
            <a:r>
              <a:rPr lang="en-IN" b="1" dirty="0"/>
              <a:t> root = </a:t>
            </a:r>
            <a:r>
              <a:rPr lang="en-IN" b="1" dirty="0" err="1"/>
              <a:t>insertBST</a:t>
            </a:r>
            <a:r>
              <a:rPr lang="en-IN" b="1" dirty="0"/>
              <a:t>(root, </a:t>
            </a:r>
            <a:r>
              <a:rPr lang="en-IN" b="1" dirty="0" err="1"/>
              <a:t>newNode</a:t>
            </a:r>
            <a:r>
              <a:rPr lang="en-IN" b="1" dirty="0"/>
              <a:t>-&gt;id);</a:t>
            </a:r>
          </a:p>
          <a:p>
            <a:r>
              <a:rPr lang="en-IN" b="1" dirty="0" err="1"/>
              <a:t>printf</a:t>
            </a:r>
            <a:r>
              <a:rPr lang="en-IN" b="1" dirty="0"/>
              <a:t>("\n✔ Consumer Successfully Integrated into Grid\n");}</a:t>
            </a:r>
          </a:p>
          <a:p>
            <a:r>
              <a:rPr lang="en-IN" b="1" dirty="0"/>
              <a:t>void </a:t>
            </a:r>
            <a:r>
              <a:rPr lang="en-IN" b="1" dirty="0" err="1"/>
              <a:t>displayConsumers</a:t>
            </a:r>
            <a:r>
              <a:rPr lang="en-IN" b="1" dirty="0"/>
              <a:t>() {</a:t>
            </a:r>
          </a:p>
          <a:p>
            <a:r>
              <a:rPr lang="en-IN" b="1" dirty="0"/>
              <a:t>    struct Consumer* temp = head;</a:t>
            </a:r>
          </a:p>
          <a:p>
            <a:r>
              <a:rPr lang="en-IN" b="1" dirty="0"/>
              <a:t> </a:t>
            </a:r>
            <a:r>
              <a:rPr lang="en-IN" b="1" dirty="0" err="1"/>
              <a:t>printf</a:t>
            </a:r>
            <a:r>
              <a:rPr lang="en-IN" b="1" dirty="0"/>
              <a:t>("\n[ACTIVE CONSUMERS]\n");</a:t>
            </a:r>
          </a:p>
          <a:p>
            <a:r>
              <a:rPr lang="en-IN" b="1" dirty="0"/>
              <a:t>    </a:t>
            </a:r>
            <a:r>
              <a:rPr lang="en-IN" b="1" dirty="0" err="1"/>
              <a:t>printf</a:t>
            </a:r>
            <a:r>
              <a:rPr lang="en-IN" b="1" dirty="0"/>
              <a:t>("----------------------------------------------------\n");</a:t>
            </a:r>
          </a:p>
          <a:p>
            <a:endParaRPr lang="en-IN"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8F144-2EA5-F213-FEC1-8AABDEF642A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9AA98FD-8F4C-2597-5A75-5B1774FC0941}"/>
              </a:ext>
            </a:extLst>
          </p:cNvPr>
          <p:cNvGrpSpPr/>
          <p:nvPr/>
        </p:nvGrpSpPr>
        <p:grpSpPr>
          <a:xfrm>
            <a:off x="537572" y="179219"/>
            <a:ext cx="1318564" cy="1151483"/>
            <a:chOff x="0" y="0"/>
            <a:chExt cx="2108695" cy="2081378"/>
          </a:xfrm>
        </p:grpSpPr>
        <p:sp>
          <p:nvSpPr>
            <p:cNvPr id="3" name="Freeform 3">
              <a:extLst>
                <a:ext uri="{FF2B5EF4-FFF2-40B4-BE49-F238E27FC236}">
                  <a16:creationId xmlns:a16="http://schemas.microsoft.com/office/drawing/2014/main" id="{3F07984E-06DE-9BCD-28B9-914838B3F8E0}"/>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4" name="Group 4">
            <a:extLst>
              <a:ext uri="{FF2B5EF4-FFF2-40B4-BE49-F238E27FC236}">
                <a16:creationId xmlns:a16="http://schemas.microsoft.com/office/drawing/2014/main" id="{8381354B-2A6A-CE84-9B15-F3C496BBA902}"/>
              </a:ext>
            </a:extLst>
          </p:cNvPr>
          <p:cNvGrpSpPr/>
          <p:nvPr/>
        </p:nvGrpSpPr>
        <p:grpSpPr>
          <a:xfrm>
            <a:off x="16022371" y="129879"/>
            <a:ext cx="1551296" cy="1250175"/>
            <a:chOff x="0" y="0"/>
            <a:chExt cx="2811856" cy="2150821"/>
          </a:xfrm>
        </p:grpSpPr>
        <p:sp>
          <p:nvSpPr>
            <p:cNvPr id="5" name="Freeform 5">
              <a:extLst>
                <a:ext uri="{FF2B5EF4-FFF2-40B4-BE49-F238E27FC236}">
                  <a16:creationId xmlns:a16="http://schemas.microsoft.com/office/drawing/2014/main" id="{48A1B5B0-16DB-0527-57F2-8C271DC51E11}"/>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sp>
        <p:nvSpPr>
          <p:cNvPr id="9" name="TextBox 9">
            <a:extLst>
              <a:ext uri="{FF2B5EF4-FFF2-40B4-BE49-F238E27FC236}">
                <a16:creationId xmlns:a16="http://schemas.microsoft.com/office/drawing/2014/main" id="{214F4CDD-6DA1-F978-C2A3-A89655CC6D5A}"/>
              </a:ext>
            </a:extLst>
          </p:cNvPr>
          <p:cNvSpPr txBox="1"/>
          <p:nvPr/>
        </p:nvSpPr>
        <p:spPr>
          <a:xfrm>
            <a:off x="2576292" y="302476"/>
            <a:ext cx="11825508" cy="657260"/>
          </a:xfrm>
          <a:prstGeom prst="rect">
            <a:avLst/>
          </a:prstGeom>
        </p:spPr>
        <p:txBody>
          <a:bodyPr wrap="square" lIns="0" tIns="0" rIns="0" bIns="0" rtlCol="0" anchor="t">
            <a:spAutoFit/>
          </a:bodyPr>
          <a:lstStyle/>
          <a:p>
            <a:pPr algn="l">
              <a:lnSpc>
                <a:spcPts val="5040"/>
              </a:lnSpc>
            </a:pPr>
            <a:r>
              <a:rPr lang="en-US" sz="4200" b="1" dirty="0">
                <a:solidFill>
                  <a:srgbClr val="FF3399"/>
                </a:solidFill>
                <a:latin typeface="Times New Roman Bold"/>
                <a:ea typeface="Times New Roman Bold"/>
                <a:cs typeface="Times New Roman Bold"/>
                <a:sym typeface="Times New Roman Bold"/>
              </a:rPr>
              <a:t>                  MODULE IMPLEMENTATION</a:t>
            </a:r>
          </a:p>
        </p:txBody>
      </p:sp>
      <p:sp>
        <p:nvSpPr>
          <p:cNvPr id="6" name="TextBox 5">
            <a:extLst>
              <a:ext uri="{FF2B5EF4-FFF2-40B4-BE49-F238E27FC236}">
                <a16:creationId xmlns:a16="http://schemas.microsoft.com/office/drawing/2014/main" id="{7D2D6A9D-A31B-016D-68E9-7E4AD0167D76}"/>
              </a:ext>
            </a:extLst>
          </p:cNvPr>
          <p:cNvSpPr txBox="1"/>
          <p:nvPr/>
        </p:nvSpPr>
        <p:spPr>
          <a:xfrm>
            <a:off x="1295400" y="1423625"/>
            <a:ext cx="6896100" cy="8956298"/>
          </a:xfrm>
          <a:prstGeom prst="rect">
            <a:avLst/>
          </a:prstGeom>
          <a:noFill/>
        </p:spPr>
        <p:txBody>
          <a:bodyPr wrap="square" rtlCol="0">
            <a:spAutoFit/>
          </a:bodyPr>
          <a:lstStyle/>
          <a:p>
            <a:r>
              <a:rPr lang="en-IN" b="1" dirty="0"/>
              <a:t>while (temp != NULL) {</a:t>
            </a:r>
          </a:p>
          <a:p>
            <a:r>
              <a:rPr lang="en-IN" b="1" dirty="0"/>
              <a:t>        </a:t>
            </a:r>
            <a:r>
              <a:rPr lang="en-IN" b="1" dirty="0" err="1"/>
              <a:t>printf</a:t>
            </a:r>
            <a:r>
              <a:rPr lang="en-IN" b="1" dirty="0"/>
              <a:t>("ID: %d | Name: %-6s | Area: %-10s | Load: %.0f Units\n",</a:t>
            </a:r>
          </a:p>
          <a:p>
            <a:r>
              <a:rPr lang="en-IN" b="1" dirty="0"/>
              <a:t>               temp-&gt;id, temp-&gt;name, temp-&gt;location, temp-&gt;units);</a:t>
            </a:r>
          </a:p>
          <a:p>
            <a:r>
              <a:rPr lang="en-IN" b="1" dirty="0"/>
              <a:t>        temp = temp-&gt;next; }</a:t>
            </a:r>
          </a:p>
          <a:p>
            <a:r>
              <a:rPr lang="en-IN" b="1" dirty="0" err="1"/>
              <a:t>printf</a:t>
            </a:r>
            <a:r>
              <a:rPr lang="en-IN" b="1" dirty="0"/>
              <a:t>("----------------------------------------------------\n");}</a:t>
            </a:r>
          </a:p>
          <a:p>
            <a:r>
              <a:rPr lang="en-IN" b="1" dirty="0"/>
              <a:t>/// ================= LOAD BALANCING =================</a:t>
            </a:r>
          </a:p>
          <a:p>
            <a:r>
              <a:rPr lang="en-IN" b="1" dirty="0"/>
              <a:t>void </a:t>
            </a:r>
            <a:r>
              <a:rPr lang="en-IN" b="1" dirty="0" err="1"/>
              <a:t>loadBalancing</a:t>
            </a:r>
            <a:r>
              <a:rPr lang="en-IN" b="1" dirty="0"/>
              <a:t>() {</a:t>
            </a:r>
          </a:p>
          <a:p>
            <a:r>
              <a:rPr lang="en-IN" b="1" dirty="0"/>
              <a:t>    struct Consumer* temp = head;</a:t>
            </a:r>
          </a:p>
          <a:p>
            <a:r>
              <a:rPr lang="en-IN" b="1" dirty="0"/>
              <a:t>    float total = 0;</a:t>
            </a:r>
          </a:p>
          <a:p>
            <a:r>
              <a:rPr lang="en-IN" b="1" dirty="0"/>
              <a:t>    int count = 0;</a:t>
            </a:r>
          </a:p>
          <a:p>
            <a:r>
              <a:rPr lang="en-IN" b="1" dirty="0"/>
              <a:t>while (temp) {</a:t>
            </a:r>
          </a:p>
          <a:p>
            <a:r>
              <a:rPr lang="en-IN" b="1" dirty="0"/>
              <a:t>        total += temp-&gt;units;</a:t>
            </a:r>
          </a:p>
          <a:p>
            <a:r>
              <a:rPr lang="en-IN" b="1" dirty="0"/>
              <a:t>        count++;</a:t>
            </a:r>
          </a:p>
          <a:p>
            <a:r>
              <a:rPr lang="en-IN" b="1" dirty="0"/>
              <a:t>        temp = temp-&gt;next;  }</a:t>
            </a:r>
          </a:p>
          <a:p>
            <a:r>
              <a:rPr lang="en-IN" b="1" dirty="0" err="1"/>
              <a:t>printf</a:t>
            </a:r>
            <a:r>
              <a:rPr lang="en-IN" b="1" dirty="0"/>
              <a:t>("\n[LOAD DISTRIBUTION MONITOR]\n");</a:t>
            </a:r>
          </a:p>
          <a:p>
            <a:r>
              <a:rPr lang="en-IN" b="1" dirty="0"/>
              <a:t>    </a:t>
            </a:r>
            <a:r>
              <a:rPr lang="en-IN" b="1" dirty="0" err="1"/>
              <a:t>printf</a:t>
            </a:r>
            <a:r>
              <a:rPr lang="en-IN" b="1" dirty="0"/>
              <a:t>("----------------------------------------------------\n");</a:t>
            </a:r>
          </a:p>
          <a:p>
            <a:r>
              <a:rPr lang="en-IN" b="1" dirty="0"/>
              <a:t> if (count == 0) {</a:t>
            </a:r>
          </a:p>
          <a:p>
            <a:r>
              <a:rPr lang="en-IN" b="1" dirty="0"/>
              <a:t>        </a:t>
            </a:r>
            <a:r>
              <a:rPr lang="en-IN" b="1" dirty="0" err="1"/>
              <a:t>printf</a:t>
            </a:r>
            <a:r>
              <a:rPr lang="en-IN" b="1" dirty="0"/>
              <a:t>("No Data Available\n");</a:t>
            </a:r>
          </a:p>
          <a:p>
            <a:r>
              <a:rPr lang="en-IN" b="1" dirty="0"/>
              <a:t>        return;    }</a:t>
            </a:r>
          </a:p>
          <a:p>
            <a:r>
              <a:rPr lang="en-IN" b="1" dirty="0" err="1"/>
              <a:t>printf</a:t>
            </a:r>
            <a:r>
              <a:rPr lang="en-IN" b="1" dirty="0"/>
              <a:t>("Total Consumers      : %d\n", count);</a:t>
            </a:r>
          </a:p>
          <a:p>
            <a:r>
              <a:rPr lang="en-IN" b="1" dirty="0"/>
              <a:t>    </a:t>
            </a:r>
            <a:r>
              <a:rPr lang="en-IN" b="1" dirty="0" err="1"/>
              <a:t>printf</a:t>
            </a:r>
            <a:r>
              <a:rPr lang="en-IN" b="1" dirty="0"/>
              <a:t>("Total Load Demand    : %.0f Units\n", total);</a:t>
            </a:r>
          </a:p>
          <a:p>
            <a:r>
              <a:rPr lang="en-IN" b="1" dirty="0"/>
              <a:t>    </a:t>
            </a:r>
            <a:r>
              <a:rPr lang="en-IN" b="1" dirty="0" err="1"/>
              <a:t>printf</a:t>
            </a:r>
            <a:r>
              <a:rPr lang="en-IN" b="1" dirty="0"/>
              <a:t>("Average Load         : %.0f Units\n", total / count);</a:t>
            </a:r>
          </a:p>
          <a:p>
            <a:r>
              <a:rPr lang="en-IN" b="1" dirty="0"/>
              <a:t> </a:t>
            </a:r>
            <a:r>
              <a:rPr lang="en-IN" b="1" dirty="0" err="1"/>
              <a:t>printf</a:t>
            </a:r>
            <a:r>
              <a:rPr lang="en-IN" b="1" dirty="0"/>
              <a:t>("\n✔ Load Balanced Across Substations\n");</a:t>
            </a:r>
          </a:p>
          <a:p>
            <a:r>
              <a:rPr lang="en-IN" b="1" dirty="0"/>
              <a:t>    </a:t>
            </a:r>
            <a:r>
              <a:rPr lang="en-IN" b="1" dirty="0" err="1"/>
              <a:t>printf</a:t>
            </a:r>
            <a:r>
              <a:rPr lang="en-IN" b="1" dirty="0"/>
              <a:t>("✔ No Overload Detected\n");</a:t>
            </a:r>
          </a:p>
          <a:p>
            <a:r>
              <a:rPr lang="en-IN" b="1" dirty="0"/>
              <a:t>    </a:t>
            </a:r>
            <a:r>
              <a:rPr lang="en-IN" b="1" dirty="0" err="1"/>
              <a:t>printf</a:t>
            </a:r>
            <a:r>
              <a:rPr lang="en-IN" b="1" dirty="0"/>
              <a:t>("----------------------------------------------------\n");}</a:t>
            </a:r>
          </a:p>
          <a:p>
            <a:r>
              <a:rPr lang="en-IN" b="1" dirty="0"/>
              <a:t>/// ================= FAULT MANAGEMENT =================</a:t>
            </a:r>
          </a:p>
          <a:p>
            <a:r>
              <a:rPr lang="en-IN" b="1" dirty="0"/>
              <a:t>void enqueue(int id) {</a:t>
            </a:r>
          </a:p>
          <a:p>
            <a:r>
              <a:rPr lang="en-IN" b="1" dirty="0"/>
              <a:t>    if (rear == MAX - 1) {</a:t>
            </a:r>
          </a:p>
          <a:p>
            <a:r>
              <a:rPr lang="en-IN" b="1" dirty="0"/>
              <a:t>        </a:t>
            </a:r>
            <a:r>
              <a:rPr lang="en-IN" b="1" dirty="0" err="1"/>
              <a:t>printf</a:t>
            </a:r>
            <a:r>
              <a:rPr lang="en-IN" b="1" dirty="0"/>
              <a:t>("Queue Full!\n");return;   } if (front == -1) front = 0;</a:t>
            </a:r>
          </a:p>
          <a:p>
            <a:r>
              <a:rPr lang="en-IN" b="1" dirty="0"/>
              <a:t>queue[++rear] = id;</a:t>
            </a:r>
          </a:p>
          <a:p>
            <a:r>
              <a:rPr lang="en-IN" b="1" dirty="0"/>
              <a:t>    </a:t>
            </a:r>
            <a:r>
              <a:rPr lang="en-IN" b="1" dirty="0" err="1"/>
              <a:t>printf</a:t>
            </a:r>
            <a:r>
              <a:rPr lang="en-IN" b="1" dirty="0"/>
              <a:t>("\n⚠️ Fault Logged Successfully → Sent to Service Queue\n");}</a:t>
            </a:r>
          </a:p>
        </p:txBody>
      </p:sp>
      <p:cxnSp>
        <p:nvCxnSpPr>
          <p:cNvPr id="7" name="Straight Connector 6">
            <a:extLst>
              <a:ext uri="{FF2B5EF4-FFF2-40B4-BE49-F238E27FC236}">
                <a16:creationId xmlns:a16="http://schemas.microsoft.com/office/drawing/2014/main" id="{4B8EF8F3-FF9F-8A75-FF06-6A3153E7A197}"/>
              </a:ext>
            </a:extLst>
          </p:cNvPr>
          <p:cNvCxnSpPr>
            <a:cxnSpLocks/>
          </p:cNvCxnSpPr>
          <p:nvPr/>
        </p:nvCxnSpPr>
        <p:spPr>
          <a:xfrm>
            <a:off x="8765490" y="1380084"/>
            <a:ext cx="0" cy="8906916"/>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143312F5-F9EB-3194-DEA3-CF989DD192AD}"/>
              </a:ext>
            </a:extLst>
          </p:cNvPr>
          <p:cNvSpPr txBox="1"/>
          <p:nvPr/>
        </p:nvSpPr>
        <p:spPr>
          <a:xfrm>
            <a:off x="9709226" y="1397815"/>
            <a:ext cx="9429489" cy="8097033"/>
          </a:xfrm>
          <a:prstGeom prst="rect">
            <a:avLst/>
          </a:prstGeom>
          <a:noFill/>
        </p:spPr>
        <p:txBody>
          <a:bodyPr wrap="square" rtlCol="0">
            <a:spAutoFit/>
          </a:bodyPr>
          <a:lstStyle/>
          <a:p>
            <a:r>
              <a:rPr lang="en-IN" b="1" dirty="0"/>
              <a:t>void dequeue() {</a:t>
            </a:r>
          </a:p>
          <a:p>
            <a:r>
              <a:rPr lang="en-IN" b="1" dirty="0"/>
              <a:t>    if (front == -1 || front &gt; rear) {</a:t>
            </a:r>
          </a:p>
          <a:p>
            <a:r>
              <a:rPr lang="en-IN" b="1" dirty="0"/>
              <a:t>        </a:t>
            </a:r>
            <a:r>
              <a:rPr lang="en-IN" b="1" dirty="0" err="1"/>
              <a:t>printf</a:t>
            </a:r>
            <a:r>
              <a:rPr lang="en-IN" b="1" dirty="0"/>
              <a:t>("No Faults!\n");</a:t>
            </a:r>
          </a:p>
          <a:p>
            <a:r>
              <a:rPr lang="en-IN" b="1" dirty="0"/>
              <a:t>        return;    }</a:t>
            </a:r>
          </a:p>
          <a:p>
            <a:r>
              <a:rPr lang="en-IN" b="1" dirty="0"/>
              <a:t>    </a:t>
            </a:r>
            <a:r>
              <a:rPr lang="en-IN" b="1" dirty="0" err="1"/>
              <a:t>printf</a:t>
            </a:r>
            <a:r>
              <a:rPr lang="en-IN" b="1" dirty="0"/>
              <a:t>("\n🔧 Resolving Fault ID: %d...\n", queue[front++]);</a:t>
            </a:r>
          </a:p>
          <a:p>
            <a:r>
              <a:rPr lang="en-IN" b="1" dirty="0"/>
              <a:t>    </a:t>
            </a:r>
            <a:r>
              <a:rPr lang="en-IN" b="1" dirty="0" err="1"/>
              <a:t>printf</a:t>
            </a:r>
            <a:r>
              <a:rPr lang="en-IN" b="1" dirty="0"/>
              <a:t>("✔ Power Restored Successfully\n");}</a:t>
            </a:r>
          </a:p>
          <a:p>
            <a:r>
              <a:rPr lang="en-IN" b="1" dirty="0"/>
              <a:t>/// ================= BILLING =================</a:t>
            </a:r>
          </a:p>
          <a:p>
            <a:r>
              <a:rPr lang="en-IN" b="1" dirty="0"/>
              <a:t>void billing() {</a:t>
            </a:r>
          </a:p>
          <a:p>
            <a:r>
              <a:rPr lang="en-IN" b="1" dirty="0"/>
              <a:t>    struct Consumer* temp = head;</a:t>
            </a:r>
          </a:p>
          <a:p>
            <a:r>
              <a:rPr lang="en-IN" b="1" dirty="0"/>
              <a:t> </a:t>
            </a:r>
            <a:r>
              <a:rPr lang="en-IN" b="1" dirty="0" err="1"/>
              <a:t>printf</a:t>
            </a:r>
            <a:r>
              <a:rPr lang="en-IN" b="1" dirty="0"/>
              <a:t>("\n[ENERGY BILLING REPORT]\n");</a:t>
            </a:r>
          </a:p>
          <a:p>
            <a:r>
              <a:rPr lang="en-IN" b="1" dirty="0"/>
              <a:t>    </a:t>
            </a:r>
            <a:r>
              <a:rPr lang="en-IN" b="1" dirty="0" err="1"/>
              <a:t>printf</a:t>
            </a:r>
            <a:r>
              <a:rPr lang="en-IN" b="1" dirty="0"/>
              <a:t>("----------------------------------------------------\n");</a:t>
            </a:r>
          </a:p>
          <a:p>
            <a:r>
              <a:rPr lang="en-IN" b="1" dirty="0"/>
              <a:t>while (temp) {</a:t>
            </a:r>
          </a:p>
          <a:p>
            <a:r>
              <a:rPr lang="en-IN" b="1" dirty="0"/>
              <a:t>        </a:t>
            </a:r>
            <a:r>
              <a:rPr lang="en-IN" b="1" dirty="0" err="1"/>
              <a:t>printf</a:t>
            </a:r>
            <a:r>
              <a:rPr lang="en-IN" b="1" dirty="0"/>
              <a:t>("ID: %d | %-6s | Units: %.0f | Bill: ₹%.0f\n",</a:t>
            </a:r>
          </a:p>
          <a:p>
            <a:r>
              <a:rPr lang="en-IN" b="1" dirty="0"/>
              <a:t>               temp-&gt;id, temp-&gt;name, temp-&gt;units, temp-&gt;units * 5);</a:t>
            </a:r>
          </a:p>
          <a:p>
            <a:r>
              <a:rPr lang="en-IN" b="1" dirty="0"/>
              <a:t>        temp = temp-&gt;next;  }</a:t>
            </a:r>
          </a:p>
          <a:p>
            <a:r>
              <a:rPr lang="en-IN" b="1" dirty="0"/>
              <a:t> </a:t>
            </a:r>
            <a:r>
              <a:rPr lang="en-IN" b="1" dirty="0" err="1"/>
              <a:t>printf</a:t>
            </a:r>
            <a:r>
              <a:rPr lang="en-IN" b="1" dirty="0"/>
              <a:t>("\n✔ Reports Generated Successfully\n");</a:t>
            </a:r>
          </a:p>
          <a:p>
            <a:r>
              <a:rPr lang="en-IN" b="1" dirty="0"/>
              <a:t>    </a:t>
            </a:r>
            <a:r>
              <a:rPr lang="en-IN" b="1" dirty="0" err="1"/>
              <a:t>printf</a:t>
            </a:r>
            <a:r>
              <a:rPr lang="en-IN" b="1" dirty="0"/>
              <a:t>("----------------------------------------------------\n");}</a:t>
            </a:r>
          </a:p>
          <a:p>
            <a:r>
              <a:rPr lang="en-IN" b="1" dirty="0"/>
              <a:t>/// ================= STATION =================</a:t>
            </a:r>
          </a:p>
          <a:p>
            <a:r>
              <a:rPr lang="en-IN" b="1" dirty="0"/>
              <a:t>void </a:t>
            </a:r>
            <a:r>
              <a:rPr lang="en-IN" b="1" dirty="0" err="1"/>
              <a:t>stationDashboard</a:t>
            </a:r>
            <a:r>
              <a:rPr lang="en-IN" b="1" dirty="0"/>
              <a:t>() {</a:t>
            </a:r>
          </a:p>
          <a:p>
            <a:r>
              <a:rPr lang="en-IN" b="1" dirty="0"/>
              <a:t>    </a:t>
            </a:r>
            <a:r>
              <a:rPr lang="en-IN" b="1" dirty="0" err="1"/>
              <a:t>printf</a:t>
            </a:r>
            <a:r>
              <a:rPr lang="en-IN" b="1" dirty="0"/>
              <a:t>("\n[POWER STATION DASHBOARD]\n");</a:t>
            </a:r>
          </a:p>
          <a:p>
            <a:r>
              <a:rPr lang="en-IN" b="1" dirty="0"/>
              <a:t>    </a:t>
            </a:r>
            <a:r>
              <a:rPr lang="en-IN" b="1" dirty="0" err="1"/>
              <a:t>printf</a:t>
            </a:r>
            <a:r>
              <a:rPr lang="en-IN" b="1" dirty="0"/>
              <a:t>("----------------------------------------------------\n");</a:t>
            </a:r>
          </a:p>
          <a:p>
            <a:r>
              <a:rPr lang="en-IN" b="1" dirty="0"/>
              <a:t>    </a:t>
            </a:r>
            <a:r>
              <a:rPr lang="en-IN" b="1" dirty="0" err="1"/>
              <a:t>printf</a:t>
            </a:r>
            <a:r>
              <a:rPr lang="en-IN" b="1" dirty="0"/>
              <a:t>("Station Name     : Chennai Main Grid\n");</a:t>
            </a:r>
          </a:p>
          <a:p>
            <a:r>
              <a:rPr lang="en-IN" b="1" dirty="0"/>
              <a:t>    </a:t>
            </a:r>
            <a:r>
              <a:rPr lang="en-IN" b="1" dirty="0" err="1"/>
              <a:t>printf</a:t>
            </a:r>
            <a:r>
              <a:rPr lang="en-IN" b="1" dirty="0"/>
              <a:t>("Substations      : 3 Active\n");</a:t>
            </a:r>
          </a:p>
          <a:p>
            <a:r>
              <a:rPr lang="en-IN" b="1" dirty="0"/>
              <a:t>    </a:t>
            </a:r>
            <a:r>
              <a:rPr lang="en-IN" b="1" dirty="0" err="1"/>
              <a:t>printf</a:t>
            </a:r>
            <a:r>
              <a:rPr lang="en-IN" b="1" dirty="0"/>
              <a:t>("Current Load     : Stable\n");</a:t>
            </a:r>
          </a:p>
          <a:p>
            <a:r>
              <a:rPr lang="en-IN" b="1" dirty="0"/>
              <a:t>    </a:t>
            </a:r>
            <a:r>
              <a:rPr lang="en-IN" b="1" dirty="0" err="1"/>
              <a:t>printf</a:t>
            </a:r>
            <a:r>
              <a:rPr lang="en-IN" b="1" dirty="0"/>
              <a:t>("\n✔ Power Distribution Running Normally\n");</a:t>
            </a:r>
          </a:p>
          <a:p>
            <a:r>
              <a:rPr lang="en-IN" b="1" dirty="0"/>
              <a:t>    </a:t>
            </a:r>
            <a:r>
              <a:rPr lang="en-IN" b="1" dirty="0" err="1"/>
              <a:t>printf</a:t>
            </a:r>
            <a:r>
              <a:rPr lang="en-IN" b="1" dirty="0"/>
              <a:t>("----------------------------------------------------\n");}</a:t>
            </a:r>
          </a:p>
          <a:p>
            <a:r>
              <a:rPr lang="en-IN" b="1" dirty="0"/>
              <a:t>/// ================= MAIN =================</a:t>
            </a:r>
          </a:p>
          <a:p>
            <a:r>
              <a:rPr lang="en-IN" b="1" dirty="0"/>
              <a:t>int main() { int choice, sub, id;</a:t>
            </a:r>
          </a:p>
          <a:p>
            <a:r>
              <a:rPr lang="en-IN" b="1" dirty="0" err="1"/>
              <a:t>printf</a:t>
            </a:r>
            <a:r>
              <a:rPr lang="en-IN" b="1" dirty="0"/>
              <a:t>("====================================================\n");</a:t>
            </a:r>
          </a:p>
        </p:txBody>
      </p:sp>
    </p:spTree>
    <p:extLst>
      <p:ext uri="{BB962C8B-B14F-4D97-AF65-F5344CB8AC3E}">
        <p14:creationId xmlns:p14="http://schemas.microsoft.com/office/powerpoint/2010/main" val="3820767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4A0A1-234C-5A9E-F653-ED616E865A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EBD245C-1ADC-5F3F-22AD-44BF357503E7}"/>
              </a:ext>
            </a:extLst>
          </p:cNvPr>
          <p:cNvGrpSpPr/>
          <p:nvPr/>
        </p:nvGrpSpPr>
        <p:grpSpPr>
          <a:xfrm>
            <a:off x="537572" y="179219"/>
            <a:ext cx="1318564" cy="1151483"/>
            <a:chOff x="0" y="0"/>
            <a:chExt cx="2108695" cy="2081378"/>
          </a:xfrm>
        </p:grpSpPr>
        <p:sp>
          <p:nvSpPr>
            <p:cNvPr id="3" name="Freeform 3">
              <a:extLst>
                <a:ext uri="{FF2B5EF4-FFF2-40B4-BE49-F238E27FC236}">
                  <a16:creationId xmlns:a16="http://schemas.microsoft.com/office/drawing/2014/main" id="{6AFEE053-343A-647F-8604-F9AFB9650AA0}"/>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4" name="Group 4">
            <a:extLst>
              <a:ext uri="{FF2B5EF4-FFF2-40B4-BE49-F238E27FC236}">
                <a16:creationId xmlns:a16="http://schemas.microsoft.com/office/drawing/2014/main" id="{787D7B39-B000-2C34-75DB-F250D150CDA2}"/>
              </a:ext>
            </a:extLst>
          </p:cNvPr>
          <p:cNvGrpSpPr/>
          <p:nvPr/>
        </p:nvGrpSpPr>
        <p:grpSpPr>
          <a:xfrm>
            <a:off x="16022371" y="129879"/>
            <a:ext cx="1551296" cy="1250175"/>
            <a:chOff x="0" y="0"/>
            <a:chExt cx="2811856" cy="2150821"/>
          </a:xfrm>
        </p:grpSpPr>
        <p:sp>
          <p:nvSpPr>
            <p:cNvPr id="5" name="Freeform 5">
              <a:extLst>
                <a:ext uri="{FF2B5EF4-FFF2-40B4-BE49-F238E27FC236}">
                  <a16:creationId xmlns:a16="http://schemas.microsoft.com/office/drawing/2014/main" id="{70F8F75B-9A8D-4D88-BE72-55E3A80E60E0}"/>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sp>
        <p:nvSpPr>
          <p:cNvPr id="9" name="TextBox 9">
            <a:extLst>
              <a:ext uri="{FF2B5EF4-FFF2-40B4-BE49-F238E27FC236}">
                <a16:creationId xmlns:a16="http://schemas.microsoft.com/office/drawing/2014/main" id="{F85C8FA4-7683-A33A-B9A6-9EE3BB79FE53}"/>
              </a:ext>
            </a:extLst>
          </p:cNvPr>
          <p:cNvSpPr txBox="1"/>
          <p:nvPr/>
        </p:nvSpPr>
        <p:spPr>
          <a:xfrm>
            <a:off x="2576292" y="302476"/>
            <a:ext cx="11749308" cy="657260"/>
          </a:xfrm>
          <a:prstGeom prst="rect">
            <a:avLst/>
          </a:prstGeom>
        </p:spPr>
        <p:txBody>
          <a:bodyPr wrap="square" lIns="0" tIns="0" rIns="0" bIns="0" rtlCol="0" anchor="t">
            <a:spAutoFit/>
          </a:bodyPr>
          <a:lstStyle/>
          <a:p>
            <a:pPr algn="l">
              <a:lnSpc>
                <a:spcPts val="5040"/>
              </a:lnSpc>
            </a:pPr>
            <a:r>
              <a:rPr lang="en-US" sz="4200" b="1" dirty="0">
                <a:solidFill>
                  <a:srgbClr val="FF3399"/>
                </a:solidFill>
                <a:latin typeface="Times New Roman Bold"/>
                <a:ea typeface="Times New Roman Bold"/>
                <a:cs typeface="Times New Roman Bold"/>
                <a:sym typeface="Times New Roman Bold"/>
              </a:rPr>
              <a:t>                  MODULE IMPLEMENTATION</a:t>
            </a:r>
          </a:p>
        </p:txBody>
      </p:sp>
      <p:sp>
        <p:nvSpPr>
          <p:cNvPr id="8" name="TextBox 7">
            <a:extLst>
              <a:ext uri="{FF2B5EF4-FFF2-40B4-BE49-F238E27FC236}">
                <a16:creationId xmlns:a16="http://schemas.microsoft.com/office/drawing/2014/main" id="{FB9A3B8F-C0F4-F6A2-F462-0DEDE8E68697}"/>
              </a:ext>
            </a:extLst>
          </p:cNvPr>
          <p:cNvSpPr txBox="1"/>
          <p:nvPr/>
        </p:nvSpPr>
        <p:spPr>
          <a:xfrm>
            <a:off x="1196858" y="1701696"/>
            <a:ext cx="7772400" cy="8679299"/>
          </a:xfrm>
          <a:prstGeom prst="rect">
            <a:avLst/>
          </a:prstGeom>
          <a:noFill/>
        </p:spPr>
        <p:txBody>
          <a:bodyPr wrap="square" rtlCol="0">
            <a:spAutoFit/>
          </a:bodyPr>
          <a:lstStyle/>
          <a:p>
            <a:r>
              <a:rPr lang="en-IN" b="1" dirty="0" err="1"/>
              <a:t>printf</a:t>
            </a:r>
            <a:r>
              <a:rPr lang="en-IN" b="1" dirty="0"/>
              <a:t>("   ⚡ TNEB SMART POWER DISTRIBUTION SYSTEM ⚡\n");</a:t>
            </a:r>
          </a:p>
          <a:p>
            <a:r>
              <a:rPr lang="en-IN" b="1" dirty="0"/>
              <a:t>    </a:t>
            </a:r>
            <a:r>
              <a:rPr lang="en-IN" b="1" dirty="0" err="1"/>
              <a:t>printf</a:t>
            </a:r>
            <a:r>
              <a:rPr lang="en-IN" b="1" dirty="0"/>
              <a:t>("====================================================\n");</a:t>
            </a:r>
          </a:p>
          <a:p>
            <a:r>
              <a:rPr lang="en-IN" b="1" dirty="0"/>
              <a:t>    </a:t>
            </a:r>
            <a:r>
              <a:rPr lang="en-IN" b="1" dirty="0" err="1"/>
              <a:t>printf</a:t>
            </a:r>
            <a:r>
              <a:rPr lang="en-IN" b="1" dirty="0"/>
              <a:t>("Status        : ONLINE\n");</a:t>
            </a:r>
          </a:p>
          <a:p>
            <a:r>
              <a:rPr lang="en-IN" b="1" dirty="0"/>
              <a:t>    </a:t>
            </a:r>
            <a:r>
              <a:rPr lang="en-IN" b="1" dirty="0" err="1"/>
              <a:t>printf</a:t>
            </a:r>
            <a:r>
              <a:rPr lang="en-IN" b="1" dirty="0"/>
              <a:t>("Region        : Tamil Nadu Grid\n");</a:t>
            </a:r>
          </a:p>
          <a:p>
            <a:r>
              <a:rPr lang="en-IN" b="1" dirty="0"/>
              <a:t>    </a:t>
            </a:r>
            <a:r>
              <a:rPr lang="en-IN" b="1" dirty="0" err="1"/>
              <a:t>printf</a:t>
            </a:r>
            <a:r>
              <a:rPr lang="en-IN" b="1" dirty="0"/>
              <a:t>("Control Mode  : Automatic\n");</a:t>
            </a:r>
          </a:p>
          <a:p>
            <a:r>
              <a:rPr lang="en-IN" b="1" dirty="0"/>
              <a:t>    </a:t>
            </a:r>
            <a:r>
              <a:rPr lang="en-IN" b="1" dirty="0" err="1"/>
              <a:t>printf</a:t>
            </a:r>
            <a:r>
              <a:rPr lang="en-IN" b="1" dirty="0"/>
              <a:t>("====================================================\n");</a:t>
            </a:r>
          </a:p>
          <a:p>
            <a:r>
              <a:rPr lang="en-IN" b="1" dirty="0"/>
              <a:t>while (1) {</a:t>
            </a:r>
          </a:p>
          <a:p>
            <a:r>
              <a:rPr lang="en-IN" b="1" dirty="0"/>
              <a:t>        </a:t>
            </a:r>
            <a:r>
              <a:rPr lang="en-IN" b="1" dirty="0" err="1"/>
              <a:t>printf</a:t>
            </a:r>
            <a:r>
              <a:rPr lang="en-IN" b="1" dirty="0"/>
              <a:t>("\</a:t>
            </a:r>
            <a:r>
              <a:rPr lang="en-IN" b="1" dirty="0" err="1"/>
              <a:t>nMAIN</a:t>
            </a:r>
            <a:r>
              <a:rPr lang="en-IN" b="1" dirty="0"/>
              <a:t> MENU\n");</a:t>
            </a:r>
          </a:p>
          <a:p>
            <a:r>
              <a:rPr lang="en-IN" b="1" dirty="0"/>
              <a:t>        </a:t>
            </a:r>
            <a:r>
              <a:rPr lang="en-IN" b="1" dirty="0" err="1"/>
              <a:t>printf</a:t>
            </a:r>
            <a:r>
              <a:rPr lang="en-IN" b="1" dirty="0"/>
              <a:t>("----------------------------------------------------\n");</a:t>
            </a:r>
          </a:p>
          <a:p>
            <a:r>
              <a:rPr lang="en-IN" b="1" dirty="0"/>
              <a:t>        </a:t>
            </a:r>
            <a:r>
              <a:rPr lang="en-IN" b="1" dirty="0" err="1"/>
              <a:t>printf</a:t>
            </a:r>
            <a:r>
              <a:rPr lang="en-IN" b="1" dirty="0"/>
              <a:t>("1. 👤 Consumer Control Panel\n");</a:t>
            </a:r>
          </a:p>
          <a:p>
            <a:r>
              <a:rPr lang="en-IN" b="1" dirty="0"/>
              <a:t>        </a:t>
            </a:r>
            <a:r>
              <a:rPr lang="en-IN" b="1" dirty="0" err="1"/>
              <a:t>printf</a:t>
            </a:r>
            <a:r>
              <a:rPr lang="en-IN" b="1" dirty="0"/>
              <a:t>("2. 🏭 Power Station Dashboard\n");</a:t>
            </a:r>
          </a:p>
          <a:p>
            <a:r>
              <a:rPr lang="en-IN" b="1" dirty="0"/>
              <a:t>        </a:t>
            </a:r>
            <a:r>
              <a:rPr lang="en-IN" b="1" dirty="0" err="1"/>
              <a:t>printf</a:t>
            </a:r>
            <a:r>
              <a:rPr lang="en-IN" b="1" dirty="0"/>
              <a:t>("3. ⚖️ Load Distribution Monitor\n");</a:t>
            </a:r>
          </a:p>
          <a:p>
            <a:r>
              <a:rPr lang="en-IN" b="1" dirty="0"/>
              <a:t>        </a:t>
            </a:r>
            <a:r>
              <a:rPr lang="en-IN" b="1" dirty="0" err="1"/>
              <a:t>printf</a:t>
            </a:r>
            <a:r>
              <a:rPr lang="en-IN" b="1" dirty="0"/>
              <a:t>("4. 🚨 Fault Control </a:t>
            </a:r>
            <a:r>
              <a:rPr lang="en-IN" b="1" dirty="0" err="1"/>
              <a:t>Center</a:t>
            </a:r>
            <a:r>
              <a:rPr lang="en-IN" b="1" dirty="0"/>
              <a:t>\n");</a:t>
            </a:r>
          </a:p>
          <a:p>
            <a:r>
              <a:rPr lang="en-IN" b="1" dirty="0"/>
              <a:t>        </a:t>
            </a:r>
            <a:r>
              <a:rPr lang="en-IN" b="1" dirty="0" err="1"/>
              <a:t>printf</a:t>
            </a:r>
            <a:r>
              <a:rPr lang="en-IN" b="1" dirty="0"/>
              <a:t>("5. 💰 Billing &amp; Energy Report\n");</a:t>
            </a:r>
          </a:p>
          <a:p>
            <a:r>
              <a:rPr lang="en-IN" b="1" dirty="0"/>
              <a:t>        </a:t>
            </a:r>
            <a:r>
              <a:rPr lang="en-IN" b="1" dirty="0" err="1"/>
              <a:t>printf</a:t>
            </a:r>
            <a:r>
              <a:rPr lang="en-IN" b="1" dirty="0"/>
              <a:t>("6. 🔍 Consumer Lookup\n");</a:t>
            </a:r>
          </a:p>
          <a:p>
            <a:r>
              <a:rPr lang="en-IN" b="1" dirty="0"/>
              <a:t>        </a:t>
            </a:r>
            <a:r>
              <a:rPr lang="en-IN" b="1" dirty="0" err="1"/>
              <a:t>printf</a:t>
            </a:r>
            <a:r>
              <a:rPr lang="en-IN" b="1" dirty="0"/>
              <a:t>("7. ❌ Shutdown System\n");</a:t>
            </a:r>
          </a:p>
          <a:p>
            <a:r>
              <a:rPr lang="en-IN" b="1" dirty="0"/>
              <a:t>        </a:t>
            </a:r>
            <a:r>
              <a:rPr lang="en-IN" b="1" dirty="0" err="1"/>
              <a:t>printf</a:t>
            </a:r>
            <a:r>
              <a:rPr lang="en-IN" b="1" dirty="0"/>
              <a:t>("----------------------------------------------------\n");</a:t>
            </a:r>
          </a:p>
          <a:p>
            <a:r>
              <a:rPr lang="en-IN" b="1" dirty="0"/>
              <a:t> </a:t>
            </a:r>
            <a:r>
              <a:rPr lang="en-IN" b="1" dirty="0" err="1"/>
              <a:t>printf</a:t>
            </a:r>
            <a:r>
              <a:rPr lang="en-IN" b="1" dirty="0"/>
              <a:t>("Enter Command: ");</a:t>
            </a:r>
          </a:p>
          <a:p>
            <a:r>
              <a:rPr lang="en-IN" b="1" dirty="0"/>
              <a:t>        </a:t>
            </a:r>
            <a:r>
              <a:rPr lang="en-IN" b="1" dirty="0" err="1"/>
              <a:t>scanf</a:t>
            </a:r>
            <a:r>
              <a:rPr lang="en-IN" b="1" dirty="0"/>
              <a:t>("%d", &amp;choice);</a:t>
            </a:r>
          </a:p>
          <a:p>
            <a:r>
              <a:rPr lang="en-IN" b="1" dirty="0"/>
              <a:t> switch (choice) {</a:t>
            </a:r>
          </a:p>
          <a:p>
            <a:r>
              <a:rPr lang="en-IN" b="1" dirty="0"/>
              <a:t>            case 1:</a:t>
            </a:r>
          </a:p>
          <a:p>
            <a:r>
              <a:rPr lang="en-IN" b="1" dirty="0"/>
              <a:t>                </a:t>
            </a:r>
            <a:r>
              <a:rPr lang="en-IN" b="1" dirty="0" err="1"/>
              <a:t>addConsumer</a:t>
            </a:r>
            <a:r>
              <a:rPr lang="en-IN" b="1" dirty="0"/>
              <a:t>();</a:t>
            </a:r>
          </a:p>
          <a:p>
            <a:r>
              <a:rPr lang="en-IN" b="1" dirty="0"/>
              <a:t>                </a:t>
            </a:r>
            <a:r>
              <a:rPr lang="en-IN" b="1" dirty="0" err="1"/>
              <a:t>displayConsumers</a:t>
            </a:r>
            <a:r>
              <a:rPr lang="en-IN" b="1" dirty="0"/>
              <a:t>();</a:t>
            </a:r>
          </a:p>
          <a:p>
            <a:r>
              <a:rPr lang="en-IN" b="1" dirty="0"/>
              <a:t>                break;</a:t>
            </a:r>
          </a:p>
          <a:p>
            <a:r>
              <a:rPr lang="en-IN" b="1" dirty="0"/>
              <a:t>case 2:</a:t>
            </a:r>
          </a:p>
          <a:p>
            <a:r>
              <a:rPr lang="en-IN" b="1" dirty="0"/>
              <a:t>                </a:t>
            </a:r>
            <a:r>
              <a:rPr lang="en-IN" b="1" dirty="0" err="1"/>
              <a:t>stationDashboard</a:t>
            </a:r>
            <a:r>
              <a:rPr lang="en-IN" b="1" dirty="0"/>
              <a:t>();</a:t>
            </a:r>
          </a:p>
          <a:p>
            <a:r>
              <a:rPr lang="en-IN" b="1" dirty="0"/>
              <a:t>                break;</a:t>
            </a:r>
          </a:p>
          <a:p>
            <a:r>
              <a:rPr lang="en-IN" b="1" dirty="0"/>
              <a:t>case 3:</a:t>
            </a:r>
          </a:p>
          <a:p>
            <a:r>
              <a:rPr lang="en-IN" b="1" dirty="0"/>
              <a:t>                </a:t>
            </a:r>
            <a:r>
              <a:rPr lang="en-IN" b="1" dirty="0" err="1"/>
              <a:t>loadBalancing</a:t>
            </a:r>
            <a:r>
              <a:rPr lang="en-IN" b="1" dirty="0"/>
              <a:t>();</a:t>
            </a:r>
          </a:p>
          <a:p>
            <a:r>
              <a:rPr lang="en-IN" b="1" dirty="0"/>
              <a:t>                break;</a:t>
            </a:r>
          </a:p>
          <a:p>
            <a:endParaRPr lang="en-IN" b="1" dirty="0"/>
          </a:p>
        </p:txBody>
      </p:sp>
      <p:cxnSp>
        <p:nvCxnSpPr>
          <p:cNvPr id="10" name="Straight Connector 9">
            <a:extLst>
              <a:ext uri="{FF2B5EF4-FFF2-40B4-BE49-F238E27FC236}">
                <a16:creationId xmlns:a16="http://schemas.microsoft.com/office/drawing/2014/main" id="{5F37663E-8333-69BD-7878-2A761BE4015B}"/>
              </a:ext>
            </a:extLst>
          </p:cNvPr>
          <p:cNvCxnSpPr>
            <a:cxnSpLocks/>
          </p:cNvCxnSpPr>
          <p:nvPr/>
        </p:nvCxnSpPr>
        <p:spPr>
          <a:xfrm>
            <a:off x="9704329" y="1380084"/>
            <a:ext cx="0" cy="8906935"/>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DAC59E81-EE2B-9DD4-B6F9-A49C7D4D972D}"/>
              </a:ext>
            </a:extLst>
          </p:cNvPr>
          <p:cNvSpPr txBox="1"/>
          <p:nvPr/>
        </p:nvSpPr>
        <p:spPr>
          <a:xfrm>
            <a:off x="10744200" y="1581226"/>
            <a:ext cx="8458200" cy="8125301"/>
          </a:xfrm>
          <a:prstGeom prst="rect">
            <a:avLst/>
          </a:prstGeom>
          <a:noFill/>
        </p:spPr>
        <p:txBody>
          <a:bodyPr wrap="square" rtlCol="0">
            <a:spAutoFit/>
          </a:bodyPr>
          <a:lstStyle/>
          <a:p>
            <a:r>
              <a:rPr lang="en-IN" b="1" dirty="0"/>
              <a:t>case 4:</a:t>
            </a:r>
          </a:p>
          <a:p>
            <a:r>
              <a:rPr lang="en-IN" b="1" dirty="0"/>
              <a:t>                </a:t>
            </a:r>
            <a:r>
              <a:rPr lang="en-IN" b="1" dirty="0" err="1"/>
              <a:t>printf</a:t>
            </a:r>
            <a:r>
              <a:rPr lang="en-IN" b="1" dirty="0"/>
              <a:t>("\n[FAULT CONTROL CENTER]\n");</a:t>
            </a:r>
          </a:p>
          <a:p>
            <a:r>
              <a:rPr lang="en-IN" b="1" dirty="0"/>
              <a:t>                </a:t>
            </a:r>
            <a:r>
              <a:rPr lang="en-IN" b="1" dirty="0" err="1"/>
              <a:t>printf</a:t>
            </a:r>
            <a:r>
              <a:rPr lang="en-IN" b="1" dirty="0"/>
              <a:t>("1. Report Fault\n2. Resolve Fault\n");</a:t>
            </a:r>
          </a:p>
          <a:p>
            <a:r>
              <a:rPr lang="en-IN" b="1" dirty="0"/>
              <a:t>                </a:t>
            </a:r>
            <a:r>
              <a:rPr lang="en-IN" b="1" dirty="0" err="1"/>
              <a:t>printf</a:t>
            </a:r>
            <a:r>
              <a:rPr lang="en-IN" b="1" dirty="0"/>
              <a:t>("Enter Option: ");</a:t>
            </a:r>
          </a:p>
          <a:p>
            <a:r>
              <a:rPr lang="en-IN" b="1" dirty="0"/>
              <a:t>                </a:t>
            </a:r>
            <a:r>
              <a:rPr lang="en-IN" b="1" dirty="0" err="1"/>
              <a:t>scanf</a:t>
            </a:r>
            <a:r>
              <a:rPr lang="en-IN" b="1" dirty="0"/>
              <a:t>("%d", &amp;sub);</a:t>
            </a:r>
          </a:p>
          <a:p>
            <a:r>
              <a:rPr lang="en-IN" b="1" dirty="0"/>
              <a:t>  if (sub == 1) {</a:t>
            </a:r>
          </a:p>
          <a:p>
            <a:r>
              <a:rPr lang="en-IN" b="1" dirty="0"/>
              <a:t>                    </a:t>
            </a:r>
            <a:r>
              <a:rPr lang="en-IN" b="1" dirty="0" err="1"/>
              <a:t>printf</a:t>
            </a:r>
            <a:r>
              <a:rPr lang="en-IN" b="1" dirty="0"/>
              <a:t>("\</a:t>
            </a:r>
            <a:r>
              <a:rPr lang="en-IN" b="1" dirty="0" err="1"/>
              <a:t>nFault</a:t>
            </a:r>
            <a:r>
              <a:rPr lang="en-IN" b="1" dirty="0"/>
              <a:t> ID        : ");</a:t>
            </a:r>
          </a:p>
          <a:p>
            <a:r>
              <a:rPr lang="en-IN" b="1" dirty="0"/>
              <a:t>                    </a:t>
            </a:r>
            <a:r>
              <a:rPr lang="en-IN" b="1" dirty="0" err="1"/>
              <a:t>scanf</a:t>
            </a:r>
            <a:r>
              <a:rPr lang="en-IN" b="1" dirty="0"/>
              <a:t>("%d", &amp;id);</a:t>
            </a:r>
          </a:p>
          <a:p>
            <a:r>
              <a:rPr lang="en-IN" b="1" dirty="0"/>
              <a:t>                    </a:t>
            </a:r>
            <a:r>
              <a:rPr lang="en-IN" b="1" dirty="0" err="1"/>
              <a:t>printf</a:t>
            </a:r>
            <a:r>
              <a:rPr lang="en-IN" b="1" dirty="0"/>
              <a:t>("Fault Location  : Line\n");</a:t>
            </a:r>
          </a:p>
          <a:p>
            <a:r>
              <a:rPr lang="en-IN" b="1" dirty="0"/>
              <a:t>                    enqueue(id);</a:t>
            </a:r>
          </a:p>
          <a:p>
            <a:r>
              <a:rPr lang="en-IN" b="1" dirty="0"/>
              <a:t>                } else {</a:t>
            </a:r>
          </a:p>
          <a:p>
            <a:r>
              <a:rPr lang="en-IN" b="1" dirty="0"/>
              <a:t>                    dequeue();</a:t>
            </a:r>
          </a:p>
          <a:p>
            <a:r>
              <a:rPr lang="en-IN" b="1" dirty="0"/>
              <a:t>                }</a:t>
            </a:r>
          </a:p>
          <a:p>
            <a:r>
              <a:rPr lang="en-IN" b="1" dirty="0"/>
              <a:t>                break;</a:t>
            </a:r>
          </a:p>
          <a:p>
            <a:r>
              <a:rPr lang="en-IN" b="1" dirty="0"/>
              <a:t>  case 5:</a:t>
            </a:r>
          </a:p>
          <a:p>
            <a:r>
              <a:rPr lang="en-IN" b="1" dirty="0"/>
              <a:t>                billing();</a:t>
            </a:r>
          </a:p>
          <a:p>
            <a:r>
              <a:rPr lang="en-IN" b="1" dirty="0"/>
              <a:t>                break;</a:t>
            </a:r>
          </a:p>
          <a:p>
            <a:r>
              <a:rPr lang="en-IN" b="1" dirty="0"/>
              <a:t>case 6:</a:t>
            </a:r>
          </a:p>
          <a:p>
            <a:r>
              <a:rPr lang="en-IN" b="1" dirty="0"/>
              <a:t>                </a:t>
            </a:r>
            <a:r>
              <a:rPr lang="en-IN" b="1" dirty="0" err="1"/>
              <a:t>printf</a:t>
            </a:r>
            <a:r>
              <a:rPr lang="en-IN" b="1" dirty="0"/>
              <a:t>("\n[CONSUMER SEARCH]\n");</a:t>
            </a:r>
          </a:p>
          <a:p>
            <a:r>
              <a:rPr lang="en-IN" b="1" dirty="0"/>
              <a:t>                </a:t>
            </a:r>
            <a:r>
              <a:rPr lang="en-IN" b="1" dirty="0" err="1"/>
              <a:t>printf</a:t>
            </a:r>
            <a:r>
              <a:rPr lang="en-IN" b="1" dirty="0"/>
              <a:t>("Enter Consumer ID: ");</a:t>
            </a:r>
          </a:p>
          <a:p>
            <a:r>
              <a:rPr lang="en-IN" b="1" dirty="0"/>
              <a:t>                </a:t>
            </a:r>
            <a:r>
              <a:rPr lang="en-IN" b="1" dirty="0" err="1"/>
              <a:t>scanf</a:t>
            </a:r>
            <a:r>
              <a:rPr lang="en-IN" b="1" dirty="0"/>
              <a:t>("%d", &amp;id);</a:t>
            </a:r>
          </a:p>
          <a:p>
            <a:r>
              <a:rPr lang="en-IN" b="1" dirty="0"/>
              <a:t>                </a:t>
            </a:r>
            <a:r>
              <a:rPr lang="en-IN" b="1" dirty="0" err="1"/>
              <a:t>searchBST</a:t>
            </a:r>
            <a:r>
              <a:rPr lang="en-IN" b="1" dirty="0"/>
              <a:t>(root, id);</a:t>
            </a:r>
          </a:p>
          <a:p>
            <a:r>
              <a:rPr lang="en-IN" b="1" dirty="0"/>
              <a:t>                break;</a:t>
            </a:r>
          </a:p>
          <a:p>
            <a:r>
              <a:rPr lang="en-IN" b="1" dirty="0"/>
              <a:t>case 7:</a:t>
            </a:r>
          </a:p>
          <a:p>
            <a:r>
              <a:rPr lang="en-IN" b="1" dirty="0"/>
              <a:t>                </a:t>
            </a:r>
            <a:r>
              <a:rPr lang="en-IN" b="1" dirty="0" err="1"/>
              <a:t>printf</a:t>
            </a:r>
            <a:r>
              <a:rPr lang="en-IN" b="1" dirty="0"/>
              <a:t>("\n⚡ System Shutting Down...\n");</a:t>
            </a:r>
          </a:p>
          <a:p>
            <a:r>
              <a:rPr lang="en-IN" b="1" dirty="0"/>
              <a:t>                </a:t>
            </a:r>
            <a:r>
              <a:rPr lang="en-IN" b="1" dirty="0" err="1"/>
              <a:t>printf</a:t>
            </a:r>
            <a:r>
              <a:rPr lang="en-IN" b="1" dirty="0"/>
              <a:t>("✔ Thank You for Using Smart Grid System\n");</a:t>
            </a:r>
          </a:p>
          <a:p>
            <a:r>
              <a:rPr lang="en-IN" b="1" dirty="0"/>
              <a:t>                exit(0);</a:t>
            </a:r>
          </a:p>
          <a:p>
            <a:r>
              <a:rPr lang="en-IN" b="1" dirty="0"/>
              <a:t>default:</a:t>
            </a:r>
          </a:p>
          <a:p>
            <a:r>
              <a:rPr lang="en-IN" b="1" dirty="0"/>
              <a:t>                </a:t>
            </a:r>
            <a:r>
              <a:rPr lang="en-IN" b="1" dirty="0" err="1"/>
              <a:t>printf</a:t>
            </a:r>
            <a:r>
              <a:rPr lang="en-IN" b="1" dirty="0"/>
              <a:t>("Invalid Command!\n");   }   }}</a:t>
            </a:r>
          </a:p>
        </p:txBody>
      </p:sp>
    </p:spTree>
    <p:extLst>
      <p:ext uri="{BB962C8B-B14F-4D97-AF65-F5344CB8AC3E}">
        <p14:creationId xmlns:p14="http://schemas.microsoft.com/office/powerpoint/2010/main" val="2292848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0988" y="552888"/>
            <a:ext cx="1581521" cy="1561033"/>
            <a:chOff x="0" y="0"/>
            <a:chExt cx="2108695" cy="2081378"/>
          </a:xfrm>
        </p:grpSpPr>
        <p:sp>
          <p:nvSpPr>
            <p:cNvPr id="3" name="Freeform 3"/>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3"/>
              <a:stretch>
                <a:fillRect t="-57" b="-56"/>
              </a:stretch>
            </a:blipFill>
          </p:spPr>
        </p:sp>
      </p:grpSp>
      <p:grpSp>
        <p:nvGrpSpPr>
          <p:cNvPr id="4" name="Group 4"/>
          <p:cNvGrpSpPr/>
          <p:nvPr/>
        </p:nvGrpSpPr>
        <p:grpSpPr>
          <a:xfrm>
            <a:off x="15458913" y="540525"/>
            <a:ext cx="2108892" cy="1613116"/>
            <a:chOff x="0" y="0"/>
            <a:chExt cx="2811856" cy="2150821"/>
          </a:xfrm>
        </p:grpSpPr>
        <p:sp>
          <p:nvSpPr>
            <p:cNvPr id="5" name="Freeform 5"/>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4"/>
              <a:stretch>
                <a:fillRect l="-1" b="2"/>
              </a:stretch>
            </a:blipFill>
          </p:spPr>
        </p:sp>
      </p:grpSp>
      <p:sp>
        <p:nvSpPr>
          <p:cNvPr id="7" name="TextBox 7"/>
          <p:cNvSpPr txBox="1"/>
          <p:nvPr/>
        </p:nvSpPr>
        <p:spPr>
          <a:xfrm>
            <a:off x="7414846" y="422095"/>
            <a:ext cx="12653962" cy="838182"/>
          </a:xfrm>
          <a:prstGeom prst="rect">
            <a:avLst/>
          </a:prstGeom>
        </p:spPr>
        <p:txBody>
          <a:bodyPr lIns="0" tIns="0" rIns="0" bIns="0" rtlCol="0" anchor="t">
            <a:spAutoFit/>
          </a:bodyPr>
          <a:lstStyle/>
          <a:p>
            <a:pPr>
              <a:lnSpc>
                <a:spcPts val="6300"/>
              </a:lnSpc>
            </a:pPr>
            <a:r>
              <a:rPr lang="en-US" sz="5250" b="1" spc="-15" dirty="0">
                <a:solidFill>
                  <a:srgbClr val="FF3399"/>
                </a:solidFill>
                <a:latin typeface="Times New Roman Bold"/>
                <a:ea typeface="Times New Roman Bold"/>
                <a:cs typeface="Times New Roman Bold"/>
                <a:sym typeface="Times New Roman Bold"/>
              </a:rPr>
              <a:t>OUTPUT</a:t>
            </a:r>
          </a:p>
        </p:txBody>
      </p:sp>
      <p:sp>
        <p:nvSpPr>
          <p:cNvPr id="11" name="TextBox 10">
            <a:extLst>
              <a:ext uri="{FF2B5EF4-FFF2-40B4-BE49-F238E27FC236}">
                <a16:creationId xmlns:a16="http://schemas.microsoft.com/office/drawing/2014/main" id="{C4B79AA4-23B5-F7D8-BD03-63D77D7AD38A}"/>
              </a:ext>
            </a:extLst>
          </p:cNvPr>
          <p:cNvSpPr txBox="1"/>
          <p:nvPr/>
        </p:nvSpPr>
        <p:spPr>
          <a:xfrm>
            <a:off x="2590800" y="1861291"/>
            <a:ext cx="9648092" cy="584775"/>
          </a:xfrm>
          <a:prstGeom prst="rect">
            <a:avLst/>
          </a:prstGeom>
          <a:noFill/>
        </p:spPr>
        <p:txBody>
          <a:bodyPr wrap="square">
            <a:spAutoFit/>
          </a:bodyPr>
          <a:lstStyle/>
          <a:p>
            <a:r>
              <a:rPr lang="en-US" sz="3200" b="1" dirty="0">
                <a:effectLst/>
                <a:latin typeface="Times New Roman" panose="02020603050405020304" pitchFamily="18" charset="0"/>
                <a:ea typeface="Times New Roman" panose="02020603050405020304" pitchFamily="18" charset="0"/>
              </a:rPr>
              <a:t>1.ADD A CONSUMER :</a:t>
            </a:r>
            <a:endParaRPr lang="en-IN" sz="3200" b="1" dirty="0"/>
          </a:p>
        </p:txBody>
      </p:sp>
      <p:pic>
        <p:nvPicPr>
          <p:cNvPr id="12" name="Picture 11">
            <a:extLst>
              <a:ext uri="{FF2B5EF4-FFF2-40B4-BE49-F238E27FC236}">
                <a16:creationId xmlns:a16="http://schemas.microsoft.com/office/drawing/2014/main" id="{FBD70E73-B224-D59C-E9E2-85640379054A}"/>
              </a:ext>
            </a:extLst>
          </p:cNvPr>
          <p:cNvPicPr>
            <a:picLocks noChangeAspect="1"/>
          </p:cNvPicPr>
          <p:nvPr/>
        </p:nvPicPr>
        <p:blipFill rotWithShape="1">
          <a:blip r:embed="rId5">
            <a:extLst>
              <a:ext uri="{28A0092B-C50C-407E-A947-70E740481C1C}">
                <a14:useLocalDpi xmlns:a14="http://schemas.microsoft.com/office/drawing/2010/main" val="0"/>
              </a:ext>
            </a:extLst>
          </a:blip>
          <a:srcRect l="20071" t="12847" r="44469" b="24016"/>
          <a:stretch>
            <a:fillRect/>
          </a:stretch>
        </p:blipFill>
        <p:spPr bwMode="auto">
          <a:xfrm>
            <a:off x="2819400" y="2806096"/>
            <a:ext cx="10058400" cy="70910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0988" y="552888"/>
            <a:ext cx="1581521" cy="1561033"/>
            <a:chOff x="0" y="0"/>
            <a:chExt cx="2108695" cy="2081378"/>
          </a:xfrm>
        </p:grpSpPr>
        <p:sp>
          <p:nvSpPr>
            <p:cNvPr id="3" name="Freeform 3"/>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3"/>
              <a:stretch>
                <a:fillRect t="-57" b="-56"/>
              </a:stretch>
            </a:blipFill>
          </p:spPr>
        </p:sp>
      </p:grpSp>
      <p:grpSp>
        <p:nvGrpSpPr>
          <p:cNvPr id="4" name="Group 4"/>
          <p:cNvGrpSpPr/>
          <p:nvPr/>
        </p:nvGrpSpPr>
        <p:grpSpPr>
          <a:xfrm>
            <a:off x="15458913" y="540525"/>
            <a:ext cx="2108892" cy="1613116"/>
            <a:chOff x="0" y="0"/>
            <a:chExt cx="2811856" cy="2150821"/>
          </a:xfrm>
        </p:grpSpPr>
        <p:sp>
          <p:nvSpPr>
            <p:cNvPr id="5" name="Freeform 5"/>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4"/>
              <a:stretch>
                <a:fillRect l="-1" b="2"/>
              </a:stretch>
            </a:blipFill>
          </p:spPr>
        </p:sp>
      </p:grpSp>
      <p:sp>
        <p:nvSpPr>
          <p:cNvPr id="7" name="TextBox 7"/>
          <p:cNvSpPr txBox="1"/>
          <p:nvPr/>
        </p:nvSpPr>
        <p:spPr>
          <a:xfrm>
            <a:off x="6934200" y="590988"/>
            <a:ext cx="12653962" cy="838182"/>
          </a:xfrm>
          <a:prstGeom prst="rect">
            <a:avLst/>
          </a:prstGeom>
        </p:spPr>
        <p:txBody>
          <a:bodyPr lIns="0" tIns="0" rIns="0" bIns="0" rtlCol="0" anchor="t">
            <a:spAutoFit/>
          </a:bodyPr>
          <a:lstStyle/>
          <a:p>
            <a:pPr algn="l">
              <a:lnSpc>
                <a:spcPts val="6300"/>
              </a:lnSpc>
            </a:pPr>
            <a:r>
              <a:rPr lang="en-US" sz="5250" b="1" spc="-15" dirty="0">
                <a:solidFill>
                  <a:srgbClr val="FF3399"/>
                </a:solidFill>
                <a:latin typeface="Times New Roman Bold"/>
                <a:ea typeface="Times New Roman Bold"/>
                <a:cs typeface="Times New Roman Bold"/>
                <a:sym typeface="Times New Roman Bold"/>
              </a:rPr>
              <a:t>OUTPUT</a:t>
            </a:r>
          </a:p>
        </p:txBody>
      </p:sp>
      <p:sp>
        <p:nvSpPr>
          <p:cNvPr id="9" name="TextBox 8">
            <a:extLst>
              <a:ext uri="{FF2B5EF4-FFF2-40B4-BE49-F238E27FC236}">
                <a16:creationId xmlns:a16="http://schemas.microsoft.com/office/drawing/2014/main" id="{F7147CD7-5498-2949-136B-6FE83535B5F0}"/>
              </a:ext>
            </a:extLst>
          </p:cNvPr>
          <p:cNvSpPr txBox="1"/>
          <p:nvPr/>
        </p:nvSpPr>
        <p:spPr>
          <a:xfrm>
            <a:off x="1066800" y="2409883"/>
            <a:ext cx="9788768" cy="742511"/>
          </a:xfrm>
          <a:prstGeom prst="rect">
            <a:avLst/>
          </a:prstGeom>
          <a:noFill/>
        </p:spPr>
        <p:txBody>
          <a:bodyPr wrap="square">
            <a:spAutoFit/>
          </a:bodyPr>
          <a:lstStyle/>
          <a:p>
            <a:pPr marL="825500" marR="2506980">
              <a:lnSpc>
                <a:spcPct val="150000"/>
              </a:lnSpc>
              <a:spcBef>
                <a:spcPts val="315"/>
              </a:spcBef>
              <a:buNone/>
            </a:pPr>
            <a:r>
              <a:rPr lang="en-US" sz="3200" b="1" dirty="0">
                <a:effectLst/>
                <a:latin typeface="Times New Roman" panose="02020603050405020304" pitchFamily="18" charset="0"/>
                <a:ea typeface="Times New Roman" panose="02020603050405020304" pitchFamily="18" charset="0"/>
              </a:rPr>
              <a:t>2.POWER STATION DETAILS :</a:t>
            </a:r>
            <a:endParaRPr lang="en-IN" sz="3200" b="1" dirty="0">
              <a:effectLst/>
              <a:latin typeface="Times New Roman" panose="02020603050405020304" pitchFamily="18" charset="0"/>
              <a:ea typeface="Times New Roman" panose="02020603050405020304" pitchFamily="18" charset="0"/>
            </a:endParaRPr>
          </a:p>
        </p:txBody>
      </p:sp>
      <p:pic>
        <p:nvPicPr>
          <p:cNvPr id="10" name="Picture 9">
            <a:extLst>
              <a:ext uri="{FF2B5EF4-FFF2-40B4-BE49-F238E27FC236}">
                <a16:creationId xmlns:a16="http://schemas.microsoft.com/office/drawing/2014/main" id="{6104E114-63D1-1636-7B82-FD345B5E604B}"/>
              </a:ext>
            </a:extLst>
          </p:cNvPr>
          <p:cNvPicPr>
            <a:picLocks noChangeAspect="1"/>
          </p:cNvPicPr>
          <p:nvPr/>
        </p:nvPicPr>
        <p:blipFill rotWithShape="1">
          <a:blip r:embed="rId5">
            <a:extLst>
              <a:ext uri="{28A0092B-C50C-407E-A947-70E740481C1C}">
                <a14:useLocalDpi xmlns:a14="http://schemas.microsoft.com/office/drawing/2010/main" val="0"/>
              </a:ext>
            </a:extLst>
          </a:blip>
          <a:srcRect l="20607" t="10401" r="49554" b="68234"/>
          <a:stretch>
            <a:fillRect/>
          </a:stretch>
        </p:blipFill>
        <p:spPr bwMode="auto">
          <a:xfrm>
            <a:off x="2092519" y="4248590"/>
            <a:ext cx="15210237" cy="5181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A6656-35E0-8464-85F2-647447CA2BC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0DDB6ED-6388-1C3F-F926-A1CD470423A6}"/>
              </a:ext>
            </a:extLst>
          </p:cNvPr>
          <p:cNvGrpSpPr/>
          <p:nvPr/>
        </p:nvGrpSpPr>
        <p:grpSpPr>
          <a:xfrm>
            <a:off x="510988" y="552888"/>
            <a:ext cx="1581521" cy="1561033"/>
            <a:chOff x="0" y="0"/>
            <a:chExt cx="2108695" cy="2081378"/>
          </a:xfrm>
        </p:grpSpPr>
        <p:sp>
          <p:nvSpPr>
            <p:cNvPr id="3" name="Freeform 3">
              <a:extLst>
                <a:ext uri="{FF2B5EF4-FFF2-40B4-BE49-F238E27FC236}">
                  <a16:creationId xmlns:a16="http://schemas.microsoft.com/office/drawing/2014/main" id="{2284BE76-E2E5-CF61-12D5-F4DB92D3B014}"/>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3"/>
              <a:stretch>
                <a:fillRect t="-57" b="-56"/>
              </a:stretch>
            </a:blipFill>
          </p:spPr>
        </p:sp>
      </p:grpSp>
      <p:grpSp>
        <p:nvGrpSpPr>
          <p:cNvPr id="4" name="Group 4">
            <a:extLst>
              <a:ext uri="{FF2B5EF4-FFF2-40B4-BE49-F238E27FC236}">
                <a16:creationId xmlns:a16="http://schemas.microsoft.com/office/drawing/2014/main" id="{D1D1EBA3-8CB6-BA39-8DF4-641FFDCAFEC8}"/>
              </a:ext>
            </a:extLst>
          </p:cNvPr>
          <p:cNvGrpSpPr/>
          <p:nvPr/>
        </p:nvGrpSpPr>
        <p:grpSpPr>
          <a:xfrm>
            <a:off x="15458913" y="540525"/>
            <a:ext cx="2108892" cy="1613116"/>
            <a:chOff x="0" y="0"/>
            <a:chExt cx="2811856" cy="2150821"/>
          </a:xfrm>
        </p:grpSpPr>
        <p:sp>
          <p:nvSpPr>
            <p:cNvPr id="5" name="Freeform 5">
              <a:extLst>
                <a:ext uri="{FF2B5EF4-FFF2-40B4-BE49-F238E27FC236}">
                  <a16:creationId xmlns:a16="http://schemas.microsoft.com/office/drawing/2014/main" id="{5DD44840-2DD4-6F2C-F58C-720A8607B187}"/>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4"/>
              <a:stretch>
                <a:fillRect l="-1" b="2"/>
              </a:stretch>
            </a:blipFill>
          </p:spPr>
        </p:sp>
      </p:grpSp>
      <p:sp>
        <p:nvSpPr>
          <p:cNvPr id="7" name="TextBox 7">
            <a:extLst>
              <a:ext uri="{FF2B5EF4-FFF2-40B4-BE49-F238E27FC236}">
                <a16:creationId xmlns:a16="http://schemas.microsoft.com/office/drawing/2014/main" id="{0D47FE9A-FB45-8AA0-FC9C-8A475C36865A}"/>
              </a:ext>
            </a:extLst>
          </p:cNvPr>
          <p:cNvSpPr txBox="1"/>
          <p:nvPr/>
        </p:nvSpPr>
        <p:spPr>
          <a:xfrm>
            <a:off x="6934200" y="590988"/>
            <a:ext cx="12653962" cy="838182"/>
          </a:xfrm>
          <a:prstGeom prst="rect">
            <a:avLst/>
          </a:prstGeom>
        </p:spPr>
        <p:txBody>
          <a:bodyPr lIns="0" tIns="0" rIns="0" bIns="0" rtlCol="0" anchor="t">
            <a:spAutoFit/>
          </a:bodyPr>
          <a:lstStyle/>
          <a:p>
            <a:pPr algn="l">
              <a:lnSpc>
                <a:spcPts val="6300"/>
              </a:lnSpc>
            </a:pPr>
            <a:r>
              <a:rPr lang="en-US" sz="5250" b="1" spc="-15" dirty="0">
                <a:solidFill>
                  <a:srgbClr val="FF3399"/>
                </a:solidFill>
                <a:latin typeface="Times New Roman Bold"/>
                <a:ea typeface="Times New Roman Bold"/>
                <a:cs typeface="Times New Roman Bold"/>
                <a:sym typeface="Times New Roman Bold"/>
              </a:rPr>
              <a:t>OUTPUT</a:t>
            </a:r>
          </a:p>
        </p:txBody>
      </p:sp>
      <p:sp>
        <p:nvSpPr>
          <p:cNvPr id="9" name="TextBox 8">
            <a:extLst>
              <a:ext uri="{FF2B5EF4-FFF2-40B4-BE49-F238E27FC236}">
                <a16:creationId xmlns:a16="http://schemas.microsoft.com/office/drawing/2014/main" id="{E4339CA1-8A2D-B0D3-34EF-1FB79EE6129E}"/>
              </a:ext>
            </a:extLst>
          </p:cNvPr>
          <p:cNvSpPr txBox="1"/>
          <p:nvPr/>
        </p:nvSpPr>
        <p:spPr>
          <a:xfrm>
            <a:off x="1066800" y="2362714"/>
            <a:ext cx="9788768" cy="742511"/>
          </a:xfrm>
          <a:prstGeom prst="rect">
            <a:avLst/>
          </a:prstGeom>
          <a:noFill/>
        </p:spPr>
        <p:txBody>
          <a:bodyPr wrap="square">
            <a:spAutoFit/>
          </a:bodyPr>
          <a:lstStyle/>
          <a:p>
            <a:pPr marL="825500" marR="2506980">
              <a:lnSpc>
                <a:spcPct val="150000"/>
              </a:lnSpc>
              <a:spcBef>
                <a:spcPts val="315"/>
              </a:spcBef>
              <a:buNone/>
            </a:pPr>
            <a:r>
              <a:rPr lang="en-US" sz="3200" b="1" dirty="0">
                <a:latin typeface="Times New Roman" panose="02020603050405020304" pitchFamily="18" charset="0"/>
                <a:ea typeface="Times New Roman" panose="02020603050405020304" pitchFamily="18" charset="0"/>
              </a:rPr>
              <a:t>3. LOAD CHECKING</a:t>
            </a:r>
            <a:r>
              <a:rPr lang="en-US" sz="3200" b="1" dirty="0">
                <a:effectLst/>
                <a:latin typeface="Times New Roman" panose="02020603050405020304" pitchFamily="18" charset="0"/>
                <a:ea typeface="Times New Roman" panose="02020603050405020304" pitchFamily="18" charset="0"/>
              </a:rPr>
              <a:t> :</a:t>
            </a:r>
            <a:endParaRPr lang="en-IN" sz="3200" b="1" dirty="0">
              <a:effectLst/>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6104E114-63D1-1636-7B82-FD345B5E604B}"/>
              </a:ext>
            </a:extLst>
          </p:cNvPr>
          <p:cNvPicPr>
            <a:picLocks noChangeAspect="1"/>
          </p:cNvPicPr>
          <p:nvPr/>
        </p:nvPicPr>
        <p:blipFill rotWithShape="1">
          <a:blip r:embed="rId5">
            <a:extLst>
              <a:ext uri="{28A0092B-C50C-407E-A947-70E740481C1C}">
                <a14:useLocalDpi xmlns:a14="http://schemas.microsoft.com/office/drawing/2010/main" val="0"/>
              </a:ext>
            </a:extLst>
          </a:blip>
          <a:srcRect l="20741" t="50037" r="50357" b="27474"/>
          <a:stretch>
            <a:fillRect/>
          </a:stretch>
        </p:blipFill>
        <p:spPr bwMode="auto">
          <a:xfrm>
            <a:off x="2122170" y="4038770"/>
            <a:ext cx="15278180" cy="56572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598182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6FBC4-5E86-40B0-8A0B-2F8FD68975D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A597FF3-708F-816F-BD38-0EA37E19EAFD}"/>
              </a:ext>
            </a:extLst>
          </p:cNvPr>
          <p:cNvGrpSpPr/>
          <p:nvPr/>
        </p:nvGrpSpPr>
        <p:grpSpPr>
          <a:xfrm>
            <a:off x="510988" y="552888"/>
            <a:ext cx="1581521" cy="1561033"/>
            <a:chOff x="0" y="0"/>
            <a:chExt cx="2108695" cy="2081378"/>
          </a:xfrm>
        </p:grpSpPr>
        <p:sp>
          <p:nvSpPr>
            <p:cNvPr id="3" name="Freeform 3">
              <a:extLst>
                <a:ext uri="{FF2B5EF4-FFF2-40B4-BE49-F238E27FC236}">
                  <a16:creationId xmlns:a16="http://schemas.microsoft.com/office/drawing/2014/main" id="{2933F2B7-E1AA-9904-7D4F-CA2DFD74B838}"/>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3"/>
              <a:stretch>
                <a:fillRect t="-57" b="-56"/>
              </a:stretch>
            </a:blipFill>
          </p:spPr>
        </p:sp>
      </p:grpSp>
      <p:grpSp>
        <p:nvGrpSpPr>
          <p:cNvPr id="4" name="Group 4">
            <a:extLst>
              <a:ext uri="{FF2B5EF4-FFF2-40B4-BE49-F238E27FC236}">
                <a16:creationId xmlns:a16="http://schemas.microsoft.com/office/drawing/2014/main" id="{62F4DE44-A9CC-9BBE-5A85-3537ACFE07CB}"/>
              </a:ext>
            </a:extLst>
          </p:cNvPr>
          <p:cNvGrpSpPr/>
          <p:nvPr/>
        </p:nvGrpSpPr>
        <p:grpSpPr>
          <a:xfrm>
            <a:off x="15458913" y="540525"/>
            <a:ext cx="2108892" cy="1613116"/>
            <a:chOff x="0" y="0"/>
            <a:chExt cx="2811856" cy="2150821"/>
          </a:xfrm>
        </p:grpSpPr>
        <p:sp>
          <p:nvSpPr>
            <p:cNvPr id="5" name="Freeform 5">
              <a:extLst>
                <a:ext uri="{FF2B5EF4-FFF2-40B4-BE49-F238E27FC236}">
                  <a16:creationId xmlns:a16="http://schemas.microsoft.com/office/drawing/2014/main" id="{694FB0FF-1BA6-4808-472A-74B1F17487DC}"/>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4"/>
              <a:stretch>
                <a:fillRect l="-1" b="2"/>
              </a:stretch>
            </a:blipFill>
          </p:spPr>
        </p:sp>
      </p:grpSp>
      <p:sp>
        <p:nvSpPr>
          <p:cNvPr id="7" name="TextBox 7">
            <a:extLst>
              <a:ext uri="{FF2B5EF4-FFF2-40B4-BE49-F238E27FC236}">
                <a16:creationId xmlns:a16="http://schemas.microsoft.com/office/drawing/2014/main" id="{C3F1A4BE-6ED8-53B0-AEAB-CEA1EDAD3EE3}"/>
              </a:ext>
            </a:extLst>
          </p:cNvPr>
          <p:cNvSpPr txBox="1"/>
          <p:nvPr/>
        </p:nvSpPr>
        <p:spPr>
          <a:xfrm>
            <a:off x="6934200" y="590988"/>
            <a:ext cx="12653962" cy="838182"/>
          </a:xfrm>
          <a:prstGeom prst="rect">
            <a:avLst/>
          </a:prstGeom>
        </p:spPr>
        <p:txBody>
          <a:bodyPr lIns="0" tIns="0" rIns="0" bIns="0" rtlCol="0" anchor="t">
            <a:spAutoFit/>
          </a:bodyPr>
          <a:lstStyle/>
          <a:p>
            <a:pPr algn="l">
              <a:lnSpc>
                <a:spcPts val="6300"/>
              </a:lnSpc>
            </a:pPr>
            <a:r>
              <a:rPr lang="en-US" sz="5250" b="1" spc="-15" dirty="0">
                <a:solidFill>
                  <a:srgbClr val="FF3399"/>
                </a:solidFill>
                <a:latin typeface="Times New Roman Bold"/>
                <a:ea typeface="Times New Roman Bold"/>
                <a:cs typeface="Times New Roman Bold"/>
                <a:sym typeface="Times New Roman Bold"/>
              </a:rPr>
              <a:t>OUTPUT</a:t>
            </a:r>
          </a:p>
        </p:txBody>
      </p:sp>
      <p:sp>
        <p:nvSpPr>
          <p:cNvPr id="9" name="TextBox 8">
            <a:extLst>
              <a:ext uri="{FF2B5EF4-FFF2-40B4-BE49-F238E27FC236}">
                <a16:creationId xmlns:a16="http://schemas.microsoft.com/office/drawing/2014/main" id="{69E6DF8A-4C4B-B50F-6983-45CCDB53B2B8}"/>
              </a:ext>
            </a:extLst>
          </p:cNvPr>
          <p:cNvSpPr txBox="1"/>
          <p:nvPr/>
        </p:nvSpPr>
        <p:spPr>
          <a:xfrm>
            <a:off x="1066800" y="2399349"/>
            <a:ext cx="9788768" cy="742511"/>
          </a:xfrm>
          <a:prstGeom prst="rect">
            <a:avLst/>
          </a:prstGeom>
          <a:noFill/>
        </p:spPr>
        <p:txBody>
          <a:bodyPr wrap="square">
            <a:spAutoFit/>
          </a:bodyPr>
          <a:lstStyle/>
          <a:p>
            <a:pPr marL="825500" marR="2506980">
              <a:lnSpc>
                <a:spcPct val="150000"/>
              </a:lnSpc>
              <a:spcBef>
                <a:spcPts val="315"/>
              </a:spcBef>
              <a:buNone/>
            </a:pPr>
            <a:r>
              <a:rPr lang="en-US" sz="3200" b="1" dirty="0">
                <a:latin typeface="Times New Roman" panose="02020603050405020304" pitchFamily="18" charset="0"/>
                <a:ea typeface="Times New Roman" panose="02020603050405020304" pitchFamily="18" charset="0"/>
              </a:rPr>
              <a:t>4. FAULT CONTROL</a:t>
            </a:r>
            <a:r>
              <a:rPr lang="en-US" sz="3200" b="1" dirty="0">
                <a:effectLst/>
                <a:latin typeface="Times New Roman" panose="02020603050405020304" pitchFamily="18" charset="0"/>
                <a:ea typeface="Times New Roman" panose="02020603050405020304" pitchFamily="18" charset="0"/>
              </a:rPr>
              <a:t> :</a:t>
            </a:r>
            <a:endParaRPr lang="en-IN" sz="3200" b="1" dirty="0">
              <a:effectLst/>
              <a:latin typeface="Times New Roman" panose="02020603050405020304" pitchFamily="18" charset="0"/>
              <a:ea typeface="Times New Roman" panose="02020603050405020304" pitchFamily="18" charset="0"/>
            </a:endParaRPr>
          </a:p>
        </p:txBody>
      </p:sp>
      <p:pic>
        <p:nvPicPr>
          <p:cNvPr id="8" name="Picture 7">
            <a:extLst>
              <a:ext uri="{FF2B5EF4-FFF2-40B4-BE49-F238E27FC236}">
                <a16:creationId xmlns:a16="http://schemas.microsoft.com/office/drawing/2014/main" id="{D75A6EFB-8A63-62F5-81EC-6D07639D6606}"/>
              </a:ext>
            </a:extLst>
          </p:cNvPr>
          <p:cNvPicPr>
            <a:picLocks noChangeAspect="1"/>
          </p:cNvPicPr>
          <p:nvPr/>
        </p:nvPicPr>
        <p:blipFill rotWithShape="1">
          <a:blip r:embed="rId5">
            <a:extLst>
              <a:ext uri="{28A0092B-C50C-407E-A947-70E740481C1C}">
                <a14:useLocalDpi xmlns:a14="http://schemas.microsoft.com/office/drawing/2010/main" val="0"/>
              </a:ext>
            </a:extLst>
          </a:blip>
          <a:srcRect l="20205" t="11124" r="49286" b="28253"/>
          <a:stretch>
            <a:fillRect/>
          </a:stretch>
        </p:blipFill>
        <p:spPr bwMode="auto">
          <a:xfrm>
            <a:off x="2092519" y="4047563"/>
            <a:ext cx="11547281" cy="60742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0152899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E5217-6618-0E0F-9BC6-28F25D7FED0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FD9D10E-DB92-01C8-C62F-8A4888EFD977}"/>
              </a:ext>
            </a:extLst>
          </p:cNvPr>
          <p:cNvGrpSpPr/>
          <p:nvPr/>
        </p:nvGrpSpPr>
        <p:grpSpPr>
          <a:xfrm>
            <a:off x="510988" y="552888"/>
            <a:ext cx="1581521" cy="1561033"/>
            <a:chOff x="0" y="0"/>
            <a:chExt cx="2108695" cy="2081378"/>
          </a:xfrm>
        </p:grpSpPr>
        <p:sp>
          <p:nvSpPr>
            <p:cNvPr id="3" name="Freeform 3">
              <a:extLst>
                <a:ext uri="{FF2B5EF4-FFF2-40B4-BE49-F238E27FC236}">
                  <a16:creationId xmlns:a16="http://schemas.microsoft.com/office/drawing/2014/main" id="{20EB85EB-B952-CC4D-4B94-7519818786FE}"/>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3"/>
              <a:stretch>
                <a:fillRect t="-57" b="-56"/>
              </a:stretch>
            </a:blipFill>
          </p:spPr>
        </p:sp>
      </p:grpSp>
      <p:grpSp>
        <p:nvGrpSpPr>
          <p:cNvPr id="4" name="Group 4">
            <a:extLst>
              <a:ext uri="{FF2B5EF4-FFF2-40B4-BE49-F238E27FC236}">
                <a16:creationId xmlns:a16="http://schemas.microsoft.com/office/drawing/2014/main" id="{11F5FD29-CDE1-BB65-619C-582AFC8BDA93}"/>
              </a:ext>
            </a:extLst>
          </p:cNvPr>
          <p:cNvGrpSpPr/>
          <p:nvPr/>
        </p:nvGrpSpPr>
        <p:grpSpPr>
          <a:xfrm>
            <a:off x="15458913" y="540525"/>
            <a:ext cx="2108892" cy="1613116"/>
            <a:chOff x="0" y="0"/>
            <a:chExt cx="2811856" cy="2150821"/>
          </a:xfrm>
        </p:grpSpPr>
        <p:sp>
          <p:nvSpPr>
            <p:cNvPr id="5" name="Freeform 5">
              <a:extLst>
                <a:ext uri="{FF2B5EF4-FFF2-40B4-BE49-F238E27FC236}">
                  <a16:creationId xmlns:a16="http://schemas.microsoft.com/office/drawing/2014/main" id="{0511E8CC-A436-B4A3-F554-C9E15EBADD6D}"/>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4"/>
              <a:stretch>
                <a:fillRect l="-1" b="2"/>
              </a:stretch>
            </a:blipFill>
          </p:spPr>
        </p:sp>
      </p:grpSp>
      <p:sp>
        <p:nvSpPr>
          <p:cNvPr id="7" name="TextBox 7">
            <a:extLst>
              <a:ext uri="{FF2B5EF4-FFF2-40B4-BE49-F238E27FC236}">
                <a16:creationId xmlns:a16="http://schemas.microsoft.com/office/drawing/2014/main" id="{63291B70-08AF-2510-0456-1F83742DDD0D}"/>
              </a:ext>
            </a:extLst>
          </p:cNvPr>
          <p:cNvSpPr txBox="1"/>
          <p:nvPr/>
        </p:nvSpPr>
        <p:spPr>
          <a:xfrm>
            <a:off x="6934200" y="590988"/>
            <a:ext cx="12653962" cy="838182"/>
          </a:xfrm>
          <a:prstGeom prst="rect">
            <a:avLst/>
          </a:prstGeom>
        </p:spPr>
        <p:txBody>
          <a:bodyPr lIns="0" tIns="0" rIns="0" bIns="0" rtlCol="0" anchor="t">
            <a:spAutoFit/>
          </a:bodyPr>
          <a:lstStyle/>
          <a:p>
            <a:pPr algn="l">
              <a:lnSpc>
                <a:spcPts val="6300"/>
              </a:lnSpc>
            </a:pPr>
            <a:r>
              <a:rPr lang="en-US" sz="5250" b="1" spc="-15" dirty="0">
                <a:solidFill>
                  <a:srgbClr val="FF3399"/>
                </a:solidFill>
                <a:latin typeface="Times New Roman Bold"/>
                <a:ea typeface="Times New Roman Bold"/>
                <a:cs typeface="Times New Roman Bold"/>
                <a:sym typeface="Times New Roman Bold"/>
              </a:rPr>
              <a:t>OUTPUT</a:t>
            </a:r>
          </a:p>
        </p:txBody>
      </p:sp>
      <p:sp>
        <p:nvSpPr>
          <p:cNvPr id="9" name="TextBox 8">
            <a:extLst>
              <a:ext uri="{FF2B5EF4-FFF2-40B4-BE49-F238E27FC236}">
                <a16:creationId xmlns:a16="http://schemas.microsoft.com/office/drawing/2014/main" id="{6AEC7310-5EF4-27FD-ABE5-3EF9D02137EA}"/>
              </a:ext>
            </a:extLst>
          </p:cNvPr>
          <p:cNvSpPr txBox="1"/>
          <p:nvPr/>
        </p:nvSpPr>
        <p:spPr>
          <a:xfrm>
            <a:off x="1066800" y="2705100"/>
            <a:ext cx="9788768" cy="742511"/>
          </a:xfrm>
          <a:prstGeom prst="rect">
            <a:avLst/>
          </a:prstGeom>
          <a:noFill/>
        </p:spPr>
        <p:txBody>
          <a:bodyPr wrap="square">
            <a:spAutoFit/>
          </a:bodyPr>
          <a:lstStyle/>
          <a:p>
            <a:pPr marL="825500" marR="2506980">
              <a:lnSpc>
                <a:spcPct val="150000"/>
              </a:lnSpc>
              <a:spcBef>
                <a:spcPts val="315"/>
              </a:spcBef>
              <a:buNone/>
            </a:pPr>
            <a:r>
              <a:rPr lang="en-US" sz="3200" b="1" dirty="0">
                <a:latin typeface="Times New Roman" panose="02020603050405020304" pitchFamily="18" charset="0"/>
                <a:ea typeface="Times New Roman" panose="02020603050405020304" pitchFamily="18" charset="0"/>
              </a:rPr>
              <a:t>5. BILL REPORT</a:t>
            </a:r>
            <a:r>
              <a:rPr lang="en-US" sz="3200" b="1" dirty="0">
                <a:effectLst/>
                <a:latin typeface="Times New Roman" panose="02020603050405020304" pitchFamily="18" charset="0"/>
                <a:ea typeface="Times New Roman" panose="02020603050405020304" pitchFamily="18" charset="0"/>
              </a:rPr>
              <a:t> :</a:t>
            </a:r>
            <a:endParaRPr lang="en-IN" sz="3200" b="1" dirty="0">
              <a:effectLst/>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A6D56B9D-7597-DF5B-352D-593A7085908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0205" t="16685" r="49955" b="67742"/>
          <a:stretch>
            <a:fillRect/>
          </a:stretch>
        </p:blipFill>
        <p:spPr bwMode="auto">
          <a:xfrm>
            <a:off x="2092519" y="4533900"/>
            <a:ext cx="14931593" cy="41556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2261251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11B8D-AA4A-0602-6CFE-0ADCCDF622D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6BAB0BA-C84E-7559-2167-DE47315DADB7}"/>
              </a:ext>
            </a:extLst>
          </p:cNvPr>
          <p:cNvGrpSpPr/>
          <p:nvPr/>
        </p:nvGrpSpPr>
        <p:grpSpPr>
          <a:xfrm>
            <a:off x="510988" y="552888"/>
            <a:ext cx="1581521" cy="1561033"/>
            <a:chOff x="0" y="0"/>
            <a:chExt cx="2108695" cy="2081378"/>
          </a:xfrm>
        </p:grpSpPr>
        <p:sp>
          <p:nvSpPr>
            <p:cNvPr id="3" name="Freeform 3">
              <a:extLst>
                <a:ext uri="{FF2B5EF4-FFF2-40B4-BE49-F238E27FC236}">
                  <a16:creationId xmlns:a16="http://schemas.microsoft.com/office/drawing/2014/main" id="{4FE62150-50E4-444F-21A6-F5ABB67A4C89}"/>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3"/>
              <a:stretch>
                <a:fillRect t="-57" b="-56"/>
              </a:stretch>
            </a:blipFill>
          </p:spPr>
        </p:sp>
      </p:grpSp>
      <p:grpSp>
        <p:nvGrpSpPr>
          <p:cNvPr id="4" name="Group 4">
            <a:extLst>
              <a:ext uri="{FF2B5EF4-FFF2-40B4-BE49-F238E27FC236}">
                <a16:creationId xmlns:a16="http://schemas.microsoft.com/office/drawing/2014/main" id="{0A842478-E558-4A2D-AD3F-D06D7A8429A4}"/>
              </a:ext>
            </a:extLst>
          </p:cNvPr>
          <p:cNvGrpSpPr/>
          <p:nvPr/>
        </p:nvGrpSpPr>
        <p:grpSpPr>
          <a:xfrm>
            <a:off x="15458913" y="540525"/>
            <a:ext cx="2108892" cy="1613116"/>
            <a:chOff x="0" y="0"/>
            <a:chExt cx="2811856" cy="2150821"/>
          </a:xfrm>
        </p:grpSpPr>
        <p:sp>
          <p:nvSpPr>
            <p:cNvPr id="5" name="Freeform 5">
              <a:extLst>
                <a:ext uri="{FF2B5EF4-FFF2-40B4-BE49-F238E27FC236}">
                  <a16:creationId xmlns:a16="http://schemas.microsoft.com/office/drawing/2014/main" id="{7219C201-016E-DAC9-EBB4-C3795CD2D5A4}"/>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4"/>
              <a:stretch>
                <a:fillRect l="-1" b="2"/>
              </a:stretch>
            </a:blipFill>
          </p:spPr>
        </p:sp>
      </p:grpSp>
      <p:sp>
        <p:nvSpPr>
          <p:cNvPr id="7" name="TextBox 7">
            <a:extLst>
              <a:ext uri="{FF2B5EF4-FFF2-40B4-BE49-F238E27FC236}">
                <a16:creationId xmlns:a16="http://schemas.microsoft.com/office/drawing/2014/main" id="{2E7B6C80-4B06-E45B-8FD5-C23E7D3B0C04}"/>
              </a:ext>
            </a:extLst>
          </p:cNvPr>
          <p:cNvSpPr txBox="1"/>
          <p:nvPr/>
        </p:nvSpPr>
        <p:spPr>
          <a:xfrm>
            <a:off x="6934200" y="590988"/>
            <a:ext cx="12653962" cy="838182"/>
          </a:xfrm>
          <a:prstGeom prst="rect">
            <a:avLst/>
          </a:prstGeom>
        </p:spPr>
        <p:txBody>
          <a:bodyPr lIns="0" tIns="0" rIns="0" bIns="0" rtlCol="0" anchor="t">
            <a:spAutoFit/>
          </a:bodyPr>
          <a:lstStyle/>
          <a:p>
            <a:pPr algn="l">
              <a:lnSpc>
                <a:spcPts val="6300"/>
              </a:lnSpc>
            </a:pPr>
            <a:r>
              <a:rPr lang="en-US" sz="5250" b="1" spc="-15" dirty="0">
                <a:solidFill>
                  <a:srgbClr val="FF3399"/>
                </a:solidFill>
                <a:latin typeface="Times New Roman Bold"/>
                <a:ea typeface="Times New Roman Bold"/>
                <a:cs typeface="Times New Roman Bold"/>
                <a:sym typeface="Times New Roman Bold"/>
              </a:rPr>
              <a:t>OUTPUT</a:t>
            </a:r>
          </a:p>
        </p:txBody>
      </p:sp>
      <p:sp>
        <p:nvSpPr>
          <p:cNvPr id="9" name="TextBox 8">
            <a:extLst>
              <a:ext uri="{FF2B5EF4-FFF2-40B4-BE49-F238E27FC236}">
                <a16:creationId xmlns:a16="http://schemas.microsoft.com/office/drawing/2014/main" id="{E052F00D-A22D-9F1E-0F9B-B29AE1227A1D}"/>
              </a:ext>
            </a:extLst>
          </p:cNvPr>
          <p:cNvSpPr txBox="1"/>
          <p:nvPr/>
        </p:nvSpPr>
        <p:spPr>
          <a:xfrm>
            <a:off x="1066800" y="2705100"/>
            <a:ext cx="9788768" cy="742511"/>
          </a:xfrm>
          <a:prstGeom prst="rect">
            <a:avLst/>
          </a:prstGeom>
          <a:noFill/>
        </p:spPr>
        <p:txBody>
          <a:bodyPr wrap="square">
            <a:spAutoFit/>
          </a:bodyPr>
          <a:lstStyle/>
          <a:p>
            <a:pPr marL="825500" marR="2506980">
              <a:lnSpc>
                <a:spcPct val="150000"/>
              </a:lnSpc>
              <a:spcBef>
                <a:spcPts val="315"/>
              </a:spcBef>
              <a:buNone/>
            </a:pPr>
            <a:r>
              <a:rPr lang="en-US" sz="3200" b="1" dirty="0">
                <a:latin typeface="Times New Roman" panose="02020603050405020304" pitchFamily="18" charset="0"/>
                <a:ea typeface="Times New Roman" panose="02020603050405020304" pitchFamily="18" charset="0"/>
              </a:rPr>
              <a:t>6. CONSUMER STATUS</a:t>
            </a:r>
            <a:r>
              <a:rPr lang="en-US" sz="3200" b="1" dirty="0">
                <a:effectLst/>
                <a:latin typeface="Times New Roman" panose="02020603050405020304" pitchFamily="18" charset="0"/>
                <a:ea typeface="Times New Roman" panose="02020603050405020304" pitchFamily="18" charset="0"/>
              </a:rPr>
              <a:t> :</a:t>
            </a:r>
            <a:endParaRPr lang="en-IN" sz="3200" b="1" dirty="0">
              <a:effectLst/>
              <a:latin typeface="Times New Roman" panose="02020603050405020304" pitchFamily="18" charset="0"/>
              <a:ea typeface="Times New Roman" panose="02020603050405020304" pitchFamily="18" charset="0"/>
            </a:endParaRPr>
          </a:p>
        </p:txBody>
      </p:sp>
      <p:pic>
        <p:nvPicPr>
          <p:cNvPr id="8" name="Picture 7">
            <a:extLst>
              <a:ext uri="{FF2B5EF4-FFF2-40B4-BE49-F238E27FC236}">
                <a16:creationId xmlns:a16="http://schemas.microsoft.com/office/drawing/2014/main" id="{A6D56B9D-7597-DF5B-352D-593A70859084}"/>
              </a:ext>
            </a:extLst>
          </p:cNvPr>
          <p:cNvPicPr>
            <a:picLocks noChangeAspect="1"/>
          </p:cNvPicPr>
          <p:nvPr/>
        </p:nvPicPr>
        <p:blipFill rotWithShape="1">
          <a:blip r:embed="rId5">
            <a:extLst>
              <a:ext uri="{28A0092B-C50C-407E-A947-70E740481C1C}">
                <a14:useLocalDpi xmlns:a14="http://schemas.microsoft.com/office/drawing/2010/main" val="0"/>
              </a:ext>
            </a:extLst>
          </a:blip>
          <a:srcRect l="20607" t="52281" r="49688" b="31868"/>
          <a:stretch>
            <a:fillRect/>
          </a:stretch>
        </p:blipFill>
        <p:spPr bwMode="auto">
          <a:xfrm>
            <a:off x="2092519" y="4533900"/>
            <a:ext cx="15031026" cy="42227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41074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16BCE-A829-3CE1-87C1-E9728FB0EE6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42E1336-1E1C-25FE-3356-6D9BA1D90B00}"/>
              </a:ext>
            </a:extLst>
          </p:cNvPr>
          <p:cNvGrpSpPr/>
          <p:nvPr/>
        </p:nvGrpSpPr>
        <p:grpSpPr>
          <a:xfrm>
            <a:off x="510988" y="552888"/>
            <a:ext cx="1581521" cy="1561033"/>
            <a:chOff x="0" y="0"/>
            <a:chExt cx="2108695" cy="2081378"/>
          </a:xfrm>
        </p:grpSpPr>
        <p:sp>
          <p:nvSpPr>
            <p:cNvPr id="3" name="Freeform 3">
              <a:extLst>
                <a:ext uri="{FF2B5EF4-FFF2-40B4-BE49-F238E27FC236}">
                  <a16:creationId xmlns:a16="http://schemas.microsoft.com/office/drawing/2014/main" id="{412B9298-A976-AC31-0C20-6EE26B9FCA7B}"/>
                </a:ext>
              </a:extLst>
            </p:cNvPr>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3"/>
              <a:stretch>
                <a:fillRect t="-57" b="-56"/>
              </a:stretch>
            </a:blipFill>
          </p:spPr>
        </p:sp>
      </p:grpSp>
      <p:grpSp>
        <p:nvGrpSpPr>
          <p:cNvPr id="4" name="Group 4">
            <a:extLst>
              <a:ext uri="{FF2B5EF4-FFF2-40B4-BE49-F238E27FC236}">
                <a16:creationId xmlns:a16="http://schemas.microsoft.com/office/drawing/2014/main" id="{EB524D0D-AD06-6C86-F6BD-B039C5D2C2BB}"/>
              </a:ext>
            </a:extLst>
          </p:cNvPr>
          <p:cNvGrpSpPr/>
          <p:nvPr/>
        </p:nvGrpSpPr>
        <p:grpSpPr>
          <a:xfrm>
            <a:off x="15458913" y="540525"/>
            <a:ext cx="2108892" cy="1613116"/>
            <a:chOff x="0" y="0"/>
            <a:chExt cx="2811856" cy="2150821"/>
          </a:xfrm>
        </p:grpSpPr>
        <p:sp>
          <p:nvSpPr>
            <p:cNvPr id="5" name="Freeform 5">
              <a:extLst>
                <a:ext uri="{FF2B5EF4-FFF2-40B4-BE49-F238E27FC236}">
                  <a16:creationId xmlns:a16="http://schemas.microsoft.com/office/drawing/2014/main" id="{7A1B7BD2-7172-5A74-A7EC-2FF945C0FBDA}"/>
                </a:ext>
              </a:extLst>
            </p:cNvPr>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4"/>
              <a:stretch>
                <a:fillRect l="-1" b="2"/>
              </a:stretch>
            </a:blipFill>
          </p:spPr>
        </p:sp>
      </p:grpSp>
      <p:sp>
        <p:nvSpPr>
          <p:cNvPr id="7" name="TextBox 7">
            <a:extLst>
              <a:ext uri="{FF2B5EF4-FFF2-40B4-BE49-F238E27FC236}">
                <a16:creationId xmlns:a16="http://schemas.microsoft.com/office/drawing/2014/main" id="{D9984A44-1A19-4651-D4FC-042D6A322B44}"/>
              </a:ext>
            </a:extLst>
          </p:cNvPr>
          <p:cNvSpPr txBox="1"/>
          <p:nvPr/>
        </p:nvSpPr>
        <p:spPr>
          <a:xfrm>
            <a:off x="6934200" y="590988"/>
            <a:ext cx="12653962" cy="838182"/>
          </a:xfrm>
          <a:prstGeom prst="rect">
            <a:avLst/>
          </a:prstGeom>
        </p:spPr>
        <p:txBody>
          <a:bodyPr lIns="0" tIns="0" rIns="0" bIns="0" rtlCol="0" anchor="t">
            <a:spAutoFit/>
          </a:bodyPr>
          <a:lstStyle/>
          <a:p>
            <a:pPr algn="l">
              <a:lnSpc>
                <a:spcPts val="6300"/>
              </a:lnSpc>
            </a:pPr>
            <a:r>
              <a:rPr lang="en-US" sz="5250" b="1" spc="-15" dirty="0">
                <a:solidFill>
                  <a:srgbClr val="FF3399"/>
                </a:solidFill>
                <a:latin typeface="Times New Roman Bold"/>
                <a:ea typeface="Times New Roman Bold"/>
                <a:cs typeface="Times New Roman Bold"/>
                <a:sym typeface="Times New Roman Bold"/>
              </a:rPr>
              <a:t>OUTPUT</a:t>
            </a:r>
          </a:p>
        </p:txBody>
      </p:sp>
      <p:sp>
        <p:nvSpPr>
          <p:cNvPr id="9" name="TextBox 8">
            <a:extLst>
              <a:ext uri="{FF2B5EF4-FFF2-40B4-BE49-F238E27FC236}">
                <a16:creationId xmlns:a16="http://schemas.microsoft.com/office/drawing/2014/main" id="{8877818F-BC80-B126-C008-A7450CFB16B2}"/>
              </a:ext>
            </a:extLst>
          </p:cNvPr>
          <p:cNvSpPr txBox="1"/>
          <p:nvPr/>
        </p:nvSpPr>
        <p:spPr>
          <a:xfrm>
            <a:off x="1066800" y="2705100"/>
            <a:ext cx="9788768" cy="742511"/>
          </a:xfrm>
          <a:prstGeom prst="rect">
            <a:avLst/>
          </a:prstGeom>
          <a:noFill/>
        </p:spPr>
        <p:txBody>
          <a:bodyPr wrap="square">
            <a:spAutoFit/>
          </a:bodyPr>
          <a:lstStyle/>
          <a:p>
            <a:pPr marL="825500" marR="2506980">
              <a:lnSpc>
                <a:spcPct val="150000"/>
              </a:lnSpc>
              <a:spcBef>
                <a:spcPts val="315"/>
              </a:spcBef>
              <a:buNone/>
            </a:pPr>
            <a:r>
              <a:rPr lang="en-US" sz="3200" b="1" dirty="0">
                <a:latin typeface="Times New Roman" panose="02020603050405020304" pitchFamily="18" charset="0"/>
                <a:ea typeface="Times New Roman" panose="02020603050405020304" pitchFamily="18" charset="0"/>
              </a:rPr>
              <a:t>7. SHUTDOWN</a:t>
            </a:r>
            <a:r>
              <a:rPr lang="en-US" sz="3200" b="1" dirty="0">
                <a:effectLst/>
                <a:latin typeface="Times New Roman" panose="02020603050405020304" pitchFamily="18" charset="0"/>
                <a:ea typeface="Times New Roman" panose="02020603050405020304" pitchFamily="18" charset="0"/>
              </a:rPr>
              <a:t> :</a:t>
            </a:r>
            <a:endParaRPr lang="en-IN" sz="3200" b="1" dirty="0">
              <a:effectLst/>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A6D56B9D-7597-DF5B-352D-593A70859084}"/>
              </a:ext>
            </a:extLst>
          </p:cNvPr>
          <p:cNvPicPr>
            <a:picLocks noChangeAspect="1"/>
          </p:cNvPicPr>
          <p:nvPr/>
        </p:nvPicPr>
        <p:blipFill rotWithShape="1">
          <a:blip r:embed="rId5">
            <a:extLst>
              <a:ext uri="{28A0092B-C50C-407E-A947-70E740481C1C}">
                <a14:useLocalDpi xmlns:a14="http://schemas.microsoft.com/office/drawing/2010/main" val="0"/>
              </a:ext>
            </a:extLst>
          </a:blip>
          <a:srcRect l="20339" t="67019" r="50090" b="4338"/>
          <a:stretch>
            <a:fillRect/>
          </a:stretch>
        </p:blipFill>
        <p:spPr bwMode="auto">
          <a:xfrm>
            <a:off x="2092518" y="3906885"/>
            <a:ext cx="12309281" cy="57355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441210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958542" y="1000125"/>
            <a:ext cx="12653962" cy="847742"/>
          </a:xfrm>
          <a:prstGeom prst="rect">
            <a:avLst/>
          </a:prstGeom>
        </p:spPr>
        <p:txBody>
          <a:bodyPr lIns="0" tIns="0" rIns="0" bIns="0" rtlCol="0" anchor="t">
            <a:spAutoFit/>
          </a:bodyPr>
          <a:lstStyle/>
          <a:p>
            <a:pPr algn="l">
              <a:lnSpc>
                <a:spcPts val="6480"/>
              </a:lnSpc>
            </a:pPr>
            <a:r>
              <a:rPr lang="en-US" sz="5400" b="1" spc="-82">
                <a:solidFill>
                  <a:srgbClr val="FF0066"/>
                </a:solidFill>
                <a:latin typeface="Times New Roman Bold"/>
                <a:ea typeface="Times New Roman Bold"/>
                <a:cs typeface="Times New Roman Bold"/>
                <a:sym typeface="Times New Roman Bold"/>
              </a:rPr>
              <a:t>ADVANTAGES</a:t>
            </a:r>
          </a:p>
        </p:txBody>
      </p:sp>
      <p:grpSp>
        <p:nvGrpSpPr>
          <p:cNvPr id="3" name="Group 3"/>
          <p:cNvGrpSpPr/>
          <p:nvPr/>
        </p:nvGrpSpPr>
        <p:grpSpPr>
          <a:xfrm>
            <a:off x="510988" y="552888"/>
            <a:ext cx="1581521" cy="1561033"/>
            <a:chOff x="0" y="0"/>
            <a:chExt cx="2108695" cy="2081378"/>
          </a:xfrm>
        </p:grpSpPr>
        <p:sp>
          <p:nvSpPr>
            <p:cNvPr id="4" name="Freeform 4"/>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5" name="Group 5"/>
          <p:cNvGrpSpPr/>
          <p:nvPr/>
        </p:nvGrpSpPr>
        <p:grpSpPr>
          <a:xfrm>
            <a:off x="15458913" y="540525"/>
            <a:ext cx="2108892" cy="1613116"/>
            <a:chOff x="0" y="0"/>
            <a:chExt cx="2811856" cy="2150821"/>
          </a:xfrm>
        </p:grpSpPr>
        <p:sp>
          <p:nvSpPr>
            <p:cNvPr id="6" name="Freeform 6"/>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sp>
        <p:nvSpPr>
          <p:cNvPr id="9" name="Rectangle 2">
            <a:extLst>
              <a:ext uri="{FF2B5EF4-FFF2-40B4-BE49-F238E27FC236}">
                <a16:creationId xmlns:a16="http://schemas.microsoft.com/office/drawing/2014/main" id="{A89224E7-D847-9E86-2A96-2BA7CC40F5F8}"/>
              </a:ext>
            </a:extLst>
          </p:cNvPr>
          <p:cNvSpPr>
            <a:spLocks noChangeArrowheads="1"/>
          </p:cNvSpPr>
          <p:nvPr/>
        </p:nvSpPr>
        <p:spPr bwMode="auto">
          <a:xfrm>
            <a:off x="4191000" y="2086115"/>
            <a:ext cx="15110012" cy="6445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management of consumer records.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 searching using Binary Search Tree (BST).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fault handling using Queue.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electricity bill generation.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Proper load monitoring and balancing.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manual work and errors.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958542" y="1000125"/>
            <a:ext cx="12653962" cy="847742"/>
          </a:xfrm>
          <a:prstGeom prst="rect">
            <a:avLst/>
          </a:prstGeom>
        </p:spPr>
        <p:txBody>
          <a:bodyPr lIns="0" tIns="0" rIns="0" bIns="0" rtlCol="0" anchor="t">
            <a:spAutoFit/>
          </a:bodyPr>
          <a:lstStyle/>
          <a:p>
            <a:pPr algn="l">
              <a:lnSpc>
                <a:spcPts val="6480"/>
              </a:lnSpc>
            </a:pPr>
            <a:r>
              <a:rPr lang="en-US" sz="5400" b="1" spc="-82">
                <a:solidFill>
                  <a:srgbClr val="FF0066"/>
                </a:solidFill>
                <a:latin typeface="Times New Roman Bold"/>
                <a:ea typeface="Times New Roman Bold"/>
                <a:cs typeface="Times New Roman Bold"/>
                <a:sym typeface="Times New Roman Bold"/>
              </a:rPr>
              <a:t>CONCLUSION </a:t>
            </a:r>
          </a:p>
        </p:txBody>
      </p:sp>
      <p:grpSp>
        <p:nvGrpSpPr>
          <p:cNvPr id="3" name="Group 3"/>
          <p:cNvGrpSpPr/>
          <p:nvPr/>
        </p:nvGrpSpPr>
        <p:grpSpPr>
          <a:xfrm>
            <a:off x="510988" y="552888"/>
            <a:ext cx="1581521" cy="1561033"/>
            <a:chOff x="0" y="0"/>
            <a:chExt cx="2108695" cy="2081378"/>
          </a:xfrm>
        </p:grpSpPr>
        <p:sp>
          <p:nvSpPr>
            <p:cNvPr id="4" name="Freeform 4"/>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5" name="Group 5"/>
          <p:cNvGrpSpPr/>
          <p:nvPr/>
        </p:nvGrpSpPr>
        <p:grpSpPr>
          <a:xfrm>
            <a:off x="15458913" y="540525"/>
            <a:ext cx="2108892" cy="1613116"/>
            <a:chOff x="0" y="0"/>
            <a:chExt cx="2811856" cy="2150821"/>
          </a:xfrm>
        </p:grpSpPr>
        <p:sp>
          <p:nvSpPr>
            <p:cNvPr id="6" name="Freeform 6"/>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sp>
        <p:nvSpPr>
          <p:cNvPr id="7" name="TextBox 7"/>
          <p:cNvSpPr txBox="1"/>
          <p:nvPr/>
        </p:nvSpPr>
        <p:spPr>
          <a:xfrm>
            <a:off x="1316166" y="2113940"/>
            <a:ext cx="14919101" cy="6852838"/>
          </a:xfrm>
          <a:prstGeom prst="rect">
            <a:avLst/>
          </a:prstGeom>
        </p:spPr>
        <p:txBody>
          <a:bodyPr wrap="square" lIns="0" tIns="0" rIns="0" bIns="0" rtlCol="0" anchor="t">
            <a:spAutoFit/>
          </a:bodyPr>
          <a:lstStyle/>
          <a:p>
            <a:pPr algn="just">
              <a:lnSpc>
                <a:spcPts val="5950"/>
              </a:lnSpc>
            </a:pPr>
            <a:endParaRPr sz="4000" dirty="0">
              <a:latin typeface="Times New Roman" panose="02020603050405020304" pitchFamily="18" charset="0"/>
              <a:cs typeface="Times New Roman" panose="02020603050405020304" pitchFamily="18" charset="0"/>
            </a:endParaRPr>
          </a:p>
          <a:p>
            <a:pPr marL="458838" lvl="1" algn="just">
              <a:lnSpc>
                <a:spcPts val="5950"/>
              </a:lnSpc>
            </a:pPr>
            <a:r>
              <a:rPr lang="en-US" sz="4000" dirty="0">
                <a:latin typeface="Times New Roman" panose="02020603050405020304" pitchFamily="18" charset="0"/>
                <a:cs typeface="Times New Roman" panose="02020603050405020304" pitchFamily="18" charset="0"/>
              </a:rPr>
              <a:t>The Smart Power Distribution Management System is an efficient application developed using C programming and data structures. The system successfully manages consumer records, monitors electrical load, handles power faults, generates billing reports, and searches consumer information effectively. Different data structures such as Linked List, Binary Search Tree, and Queue are used to improve system performance and efficiency. The project reduces manual work and helps maintain reliable power distribution management. </a:t>
            </a:r>
            <a:endParaRPr lang="en-US" sz="4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32659" y="990600"/>
            <a:ext cx="13655341" cy="922093"/>
          </a:xfrm>
          <a:prstGeom prst="rect">
            <a:avLst/>
          </a:prstGeom>
        </p:spPr>
        <p:txBody>
          <a:bodyPr lIns="0" tIns="0" rIns="0" bIns="0" rtlCol="0" anchor="t">
            <a:spAutoFit/>
          </a:bodyPr>
          <a:lstStyle/>
          <a:p>
            <a:pPr algn="l">
              <a:lnSpc>
                <a:spcPts val="6992"/>
              </a:lnSpc>
            </a:pPr>
            <a:r>
              <a:rPr lang="en-US" sz="5827" b="1" spc="-89">
                <a:solidFill>
                  <a:srgbClr val="FF0066"/>
                </a:solidFill>
                <a:latin typeface="Times New Roman Bold"/>
                <a:ea typeface="Times New Roman Bold"/>
                <a:cs typeface="Times New Roman Bold"/>
                <a:sym typeface="Times New Roman Bold"/>
              </a:rPr>
              <a:t>FUTURE ENHANCEMENT </a:t>
            </a:r>
          </a:p>
        </p:txBody>
      </p:sp>
      <p:grpSp>
        <p:nvGrpSpPr>
          <p:cNvPr id="3" name="Group 3"/>
          <p:cNvGrpSpPr/>
          <p:nvPr/>
        </p:nvGrpSpPr>
        <p:grpSpPr>
          <a:xfrm>
            <a:off x="510988" y="552888"/>
            <a:ext cx="1581521" cy="1561033"/>
            <a:chOff x="0" y="0"/>
            <a:chExt cx="2108695" cy="2081378"/>
          </a:xfrm>
        </p:grpSpPr>
        <p:sp>
          <p:nvSpPr>
            <p:cNvPr id="4" name="Freeform 4"/>
            <p:cNvSpPr/>
            <p:nvPr/>
          </p:nvSpPr>
          <p:spPr>
            <a:xfrm>
              <a:off x="0" y="0"/>
              <a:ext cx="2108708" cy="2081403"/>
            </a:xfrm>
            <a:custGeom>
              <a:avLst/>
              <a:gdLst/>
              <a:ahLst/>
              <a:cxnLst/>
              <a:rect l="l" t="t" r="r" b="b"/>
              <a:pathLst>
                <a:path w="2108708" h="2081403">
                  <a:moveTo>
                    <a:pt x="0" y="0"/>
                  </a:moveTo>
                  <a:lnTo>
                    <a:pt x="2108708" y="0"/>
                  </a:lnTo>
                  <a:lnTo>
                    <a:pt x="2108708" y="2081403"/>
                  </a:lnTo>
                  <a:lnTo>
                    <a:pt x="0" y="2081403"/>
                  </a:lnTo>
                  <a:lnTo>
                    <a:pt x="0" y="0"/>
                  </a:lnTo>
                  <a:close/>
                </a:path>
              </a:pathLst>
            </a:custGeom>
            <a:blipFill>
              <a:blip r:embed="rId2"/>
              <a:stretch>
                <a:fillRect t="-57" b="-56"/>
              </a:stretch>
            </a:blipFill>
          </p:spPr>
        </p:sp>
      </p:grpSp>
      <p:grpSp>
        <p:nvGrpSpPr>
          <p:cNvPr id="5" name="Group 5"/>
          <p:cNvGrpSpPr/>
          <p:nvPr/>
        </p:nvGrpSpPr>
        <p:grpSpPr>
          <a:xfrm>
            <a:off x="15458913" y="540525"/>
            <a:ext cx="2108892" cy="1613116"/>
            <a:chOff x="0" y="0"/>
            <a:chExt cx="2811856" cy="2150821"/>
          </a:xfrm>
        </p:grpSpPr>
        <p:sp>
          <p:nvSpPr>
            <p:cNvPr id="6" name="Freeform 6"/>
            <p:cNvSpPr/>
            <p:nvPr/>
          </p:nvSpPr>
          <p:spPr>
            <a:xfrm>
              <a:off x="0" y="0"/>
              <a:ext cx="2811907" cy="2150872"/>
            </a:xfrm>
            <a:custGeom>
              <a:avLst/>
              <a:gdLst/>
              <a:ahLst/>
              <a:cxnLst/>
              <a:rect l="l" t="t" r="r" b="b"/>
              <a:pathLst>
                <a:path w="2811907" h="2150872">
                  <a:moveTo>
                    <a:pt x="0" y="0"/>
                  </a:moveTo>
                  <a:lnTo>
                    <a:pt x="2811907" y="0"/>
                  </a:lnTo>
                  <a:lnTo>
                    <a:pt x="2811907" y="2150872"/>
                  </a:lnTo>
                  <a:lnTo>
                    <a:pt x="0" y="2150872"/>
                  </a:lnTo>
                  <a:lnTo>
                    <a:pt x="0" y="0"/>
                  </a:lnTo>
                  <a:close/>
                </a:path>
              </a:pathLst>
            </a:custGeom>
            <a:blipFill>
              <a:blip r:embed="rId3"/>
              <a:stretch>
                <a:fillRect l="-1" b="2"/>
              </a:stretch>
            </a:blipFill>
          </p:spPr>
        </p:sp>
      </p:grpSp>
      <p:sp>
        <p:nvSpPr>
          <p:cNvPr id="7" name="TextBox 7"/>
          <p:cNvSpPr txBox="1"/>
          <p:nvPr/>
        </p:nvSpPr>
        <p:spPr>
          <a:xfrm>
            <a:off x="2092528" y="2389145"/>
            <a:ext cx="14420850" cy="6647974"/>
          </a:xfrm>
          <a:prstGeom prst="rect">
            <a:avLst/>
          </a:prstGeom>
        </p:spPr>
        <p:txBody>
          <a:bodyPr lIns="0" tIns="0" rIns="0" bIns="0" rtlCol="0" anchor="t">
            <a:spAutoFit/>
          </a:bodyPr>
          <a:lstStyle/>
          <a:p>
            <a:pPr algn="just"/>
            <a:r>
              <a:rPr lang="en-US" sz="3600" b="1" dirty="0">
                <a:latin typeface="Times New Roman" panose="02020603050405020304" pitchFamily="18" charset="0"/>
                <a:cs typeface="Times New Roman" panose="02020603050405020304" pitchFamily="18" charset="0"/>
              </a:rPr>
              <a:t>1. IoT-Based Power Monitoring :</a:t>
            </a:r>
          </a:p>
          <a:p>
            <a:pPr algn="just"/>
            <a:r>
              <a:rPr lang="en-US" sz="3600" dirty="0">
                <a:latin typeface="Times New Roman" panose="02020603050405020304" pitchFamily="18" charset="0"/>
                <a:cs typeface="Times New Roman" panose="02020603050405020304" pitchFamily="18" charset="0"/>
              </a:rPr>
              <a:t>The system can be integrated with IoT sensors to monitor electricity usage and power faults in real time. </a:t>
            </a:r>
          </a:p>
          <a:p>
            <a:pPr algn="just"/>
            <a:endParaRPr lang="en-US" sz="3600" dirty="0">
              <a:latin typeface="Times New Roman" panose="02020603050405020304" pitchFamily="18" charset="0"/>
              <a:cs typeface="Times New Roman" panose="02020603050405020304" pitchFamily="18" charset="0"/>
            </a:endParaRPr>
          </a:p>
          <a:p>
            <a:pPr algn="just"/>
            <a:r>
              <a:rPr lang="en-US" sz="3600" b="1" dirty="0">
                <a:latin typeface="Times New Roman" panose="02020603050405020304" pitchFamily="18" charset="0"/>
                <a:cs typeface="Times New Roman" panose="02020603050405020304" pitchFamily="18" charset="0"/>
              </a:rPr>
              <a:t>2. Online Billing and Mobile Support :</a:t>
            </a:r>
          </a:p>
          <a:p>
            <a:pPr algn="just"/>
            <a:r>
              <a:rPr lang="en-US" sz="3600" dirty="0">
                <a:latin typeface="Times New Roman" panose="02020603050405020304" pitchFamily="18" charset="0"/>
                <a:cs typeface="Times New Roman" panose="02020603050405020304" pitchFamily="18" charset="0"/>
              </a:rPr>
              <a:t>Online bill payment and mobile application support can be added in the future. This will allow consumers and operators to access the system easily from anywhere.</a:t>
            </a:r>
          </a:p>
          <a:p>
            <a:pPr algn="just"/>
            <a:endParaRPr lang="en-US" sz="3600" dirty="0">
              <a:latin typeface="Times New Roman" panose="02020603050405020304" pitchFamily="18" charset="0"/>
              <a:cs typeface="Times New Roman" panose="02020603050405020304" pitchFamily="18" charset="0"/>
            </a:endParaRPr>
          </a:p>
          <a:p>
            <a:pPr algn="just"/>
            <a:r>
              <a:rPr lang="en-US" sz="3600" b="1" dirty="0">
                <a:latin typeface="Times New Roman" panose="02020603050405020304" pitchFamily="18" charset="0"/>
                <a:cs typeface="Times New Roman" panose="02020603050405020304" pitchFamily="18" charset="0"/>
              </a:rPr>
              <a:t>3. Automatic Fault Detection :</a:t>
            </a:r>
          </a:p>
          <a:p>
            <a:pPr algn="just"/>
            <a:r>
              <a:rPr lang="en-US" sz="3600" dirty="0">
                <a:latin typeface="Times New Roman" panose="02020603050405020304" pitchFamily="18" charset="0"/>
                <a:cs typeface="Times New Roman" panose="02020603050405020304" pitchFamily="18" charset="0"/>
              </a:rPr>
              <a:t>The system can be enhanced with automatic fault detection and alert notification features.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croll: Horizontal 9">
            <a:extLst>
              <a:ext uri="{FF2B5EF4-FFF2-40B4-BE49-F238E27FC236}">
                <a16:creationId xmlns:a16="http://schemas.microsoft.com/office/drawing/2014/main" id="{71013AA2-29C1-9DF1-B287-E06D67BA7D68}"/>
              </a:ext>
            </a:extLst>
          </p:cNvPr>
          <p:cNvSpPr/>
          <p:nvPr/>
        </p:nvSpPr>
        <p:spPr>
          <a:xfrm>
            <a:off x="1066800" y="1257300"/>
            <a:ext cx="15773400" cy="8229600"/>
          </a:xfrm>
          <a:prstGeom prst="horizontalScrol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B5D2EDE-38C3-9C58-0E83-2F2B45658ADB}"/>
              </a:ext>
            </a:extLst>
          </p:cNvPr>
          <p:cNvSpPr/>
          <p:nvPr/>
        </p:nvSpPr>
        <p:spPr>
          <a:xfrm>
            <a:off x="2667000" y="3771900"/>
            <a:ext cx="14173200" cy="2400657"/>
          </a:xfrm>
          <a:prstGeom prst="rect">
            <a:avLst/>
          </a:prstGeom>
          <a:noFill/>
        </p:spPr>
        <p:txBody>
          <a:bodyPr wrap="square" lIns="91440" tIns="45720" rIns="91440" bIns="45720">
            <a:spAutoFit/>
          </a:bodyPr>
          <a:lstStyle/>
          <a:p>
            <a:r>
              <a:rPr lang="en-IN" sz="15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lgerian" panose="04020705040A02060702" pitchFamily="82" charset="0"/>
              </a:rPr>
              <a:t>THANK YOU 🙏🏿</a:t>
            </a:r>
          </a:p>
        </p:txBody>
      </p:sp>
    </p:spTree>
    <p:extLst>
      <p:ext uri="{BB962C8B-B14F-4D97-AF65-F5344CB8AC3E}">
        <p14:creationId xmlns:p14="http://schemas.microsoft.com/office/powerpoint/2010/main" val="3224374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2523</Words>
  <Application>Microsoft Office PowerPoint</Application>
  <PresentationFormat>Custom</PresentationFormat>
  <Paragraphs>325</Paragraphs>
  <Slides>28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Times New Roman</vt:lpstr>
      <vt:lpstr>Algerian</vt:lpstr>
      <vt:lpstr>Wingdings</vt:lpstr>
      <vt:lpstr>Calibri</vt:lpstr>
      <vt:lpstr>Calibri (MS)</vt:lpstr>
      <vt:lpstr>Times New Roman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Mano.pptx</dc:title>
  <dc:creator>anand1</dc:creator>
  <cp:lastModifiedBy>vishvanathan balamurugan</cp:lastModifiedBy>
  <cp:revision>16</cp:revision>
  <dcterms:created xsi:type="dcterms:W3CDTF">2006-08-16T00:00:00Z</dcterms:created>
  <dcterms:modified xsi:type="dcterms:W3CDTF">2026-05-10T15:37:17Z</dcterms:modified>
  <dc:identifier>DAHFVB-QTbA</dc:identifier>
</cp:coreProperties>
</file>